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Now Bold" charset="1" panose="00000800000000000000"/>
      <p:regular r:id="rId19"/>
    </p:embeddedFont>
    <p:embeddedFont>
      <p:font typeface="Now" charset="1" panose="00000500000000000000"/>
      <p:regular r:id="rId20"/>
    </p:embeddedFont>
    <p:embeddedFont>
      <p:font typeface="TT Drugs" charset="1" panose="02000503060000020003"/>
      <p:regular r:id="rId21"/>
    </p:embeddedFont>
    <p:embeddedFont>
      <p:font typeface="Rowdies" charset="1" panose="0000000000000000000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7.pn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9.pn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0.pn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1.pn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2.pn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3.png" Type="http://schemas.openxmlformats.org/officeDocument/2006/relationships/image"/><Relationship Id="rId6" Target="../media/image14.png" Type="http://schemas.openxmlformats.org/officeDocument/2006/relationships/image"/><Relationship Id="rId7" Target="../media/image15.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6.png" Type="http://schemas.openxmlformats.org/officeDocument/2006/relationships/image"/><Relationship Id="rId6" Target="../media/image17.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0" t="0" r="0" b="0"/>
            </a:stretch>
          </a:blipFill>
        </p:spPr>
      </p:sp>
      <p:sp>
        <p:nvSpPr>
          <p:cNvPr name="AutoShape 3" id="3"/>
          <p:cNvSpPr/>
          <p:nvPr/>
        </p:nvSpPr>
        <p:spPr>
          <a:xfrm>
            <a:off x="-169125" y="2815203"/>
            <a:ext cx="18594933" cy="0"/>
          </a:xfrm>
          <a:prstGeom prst="line">
            <a:avLst/>
          </a:prstGeom>
          <a:ln cap="flat" w="9525">
            <a:solidFill>
              <a:srgbClr val="000000"/>
            </a:solidFill>
            <a:prstDash val="solid"/>
            <a:headEnd type="none" len="sm" w="sm"/>
            <a:tailEnd type="none" len="sm" w="sm"/>
          </a:ln>
        </p:spPr>
      </p:sp>
      <p:sp>
        <p:nvSpPr>
          <p:cNvPr name="AutoShape 4" id="4"/>
          <p:cNvSpPr/>
          <p:nvPr/>
        </p:nvSpPr>
        <p:spPr>
          <a:xfrm>
            <a:off x="14191185" y="0"/>
            <a:ext cx="0" cy="2815203"/>
          </a:xfrm>
          <a:prstGeom prst="line">
            <a:avLst/>
          </a:prstGeom>
          <a:ln cap="flat" w="9525">
            <a:solidFill>
              <a:srgbClr val="000000"/>
            </a:solidFill>
            <a:prstDash val="solid"/>
            <a:headEnd type="none" len="sm" w="sm"/>
            <a:tailEnd type="none" len="sm" w="sm"/>
          </a:ln>
        </p:spPr>
      </p:sp>
      <p:grpSp>
        <p:nvGrpSpPr>
          <p:cNvPr name="Group 5" id="5"/>
          <p:cNvGrpSpPr/>
          <p:nvPr/>
        </p:nvGrpSpPr>
        <p:grpSpPr>
          <a:xfrm rot="0">
            <a:off x="0" y="0"/>
            <a:ext cx="2815203" cy="2815203"/>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solidFill>
                <a:srgbClr val="737373"/>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239"/>
                </a:lnSpc>
              </a:pPr>
            </a:p>
          </p:txBody>
        </p:sp>
      </p:grpSp>
      <p:sp>
        <p:nvSpPr>
          <p:cNvPr name="Freeform 8" id="8"/>
          <p:cNvSpPr/>
          <p:nvPr/>
        </p:nvSpPr>
        <p:spPr>
          <a:xfrm flipH="false" flipV="false" rot="2700000">
            <a:off x="1282531" y="1282531"/>
            <a:ext cx="250141" cy="250141"/>
          </a:xfrm>
          <a:custGeom>
            <a:avLst/>
            <a:gdLst/>
            <a:ahLst/>
            <a:cxnLst/>
            <a:rect r="r" b="b" t="t" l="l"/>
            <a:pathLst>
              <a:path h="250141" w="250141">
                <a:moveTo>
                  <a:pt x="0" y="0"/>
                </a:moveTo>
                <a:lnTo>
                  <a:pt x="250141" y="0"/>
                </a:lnTo>
                <a:lnTo>
                  <a:pt x="250141" y="250141"/>
                </a:lnTo>
                <a:lnTo>
                  <a:pt x="0" y="25014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9" id="9"/>
          <p:cNvSpPr txBox="true"/>
          <p:nvPr/>
        </p:nvSpPr>
        <p:spPr>
          <a:xfrm rot="0">
            <a:off x="2369326" y="3880038"/>
            <a:ext cx="6073063" cy="1650364"/>
          </a:xfrm>
          <a:prstGeom prst="rect">
            <a:avLst/>
          </a:prstGeom>
        </p:spPr>
        <p:txBody>
          <a:bodyPr anchor="t" rtlCol="false" tIns="0" lIns="0" bIns="0" rIns="0">
            <a:spAutoFit/>
          </a:bodyPr>
          <a:lstStyle/>
          <a:p>
            <a:pPr algn="l">
              <a:lnSpc>
                <a:spcPts val="13300"/>
              </a:lnSpc>
            </a:pPr>
            <a:r>
              <a:rPr lang="en-US" sz="9500" b="true">
                <a:solidFill>
                  <a:srgbClr val="595858"/>
                </a:solidFill>
                <a:latin typeface="Now Bold"/>
                <a:ea typeface="Now Bold"/>
                <a:cs typeface="Now Bold"/>
                <a:sym typeface="Now Bold"/>
              </a:rPr>
              <a:t>NEXORA</a:t>
            </a:r>
          </a:p>
        </p:txBody>
      </p:sp>
      <p:sp>
        <p:nvSpPr>
          <p:cNvPr name="TextBox 10" id="10"/>
          <p:cNvSpPr txBox="true"/>
          <p:nvPr/>
        </p:nvSpPr>
        <p:spPr>
          <a:xfrm rot="0">
            <a:off x="2369326" y="5339903"/>
            <a:ext cx="9028210" cy="1650364"/>
          </a:xfrm>
          <a:prstGeom prst="rect">
            <a:avLst/>
          </a:prstGeom>
        </p:spPr>
        <p:txBody>
          <a:bodyPr anchor="t" rtlCol="false" tIns="0" lIns="0" bIns="0" rIns="0">
            <a:spAutoFit/>
          </a:bodyPr>
          <a:lstStyle/>
          <a:p>
            <a:pPr algn="l">
              <a:lnSpc>
                <a:spcPts val="13300"/>
              </a:lnSpc>
            </a:pPr>
            <a:r>
              <a:rPr lang="en-US" sz="9500" b="true">
                <a:solidFill>
                  <a:srgbClr val="595858"/>
                </a:solidFill>
                <a:latin typeface="Now Bold"/>
                <a:ea typeface="Now Bold"/>
                <a:cs typeface="Now Bold"/>
                <a:sym typeface="Now Bold"/>
              </a:rPr>
              <a:t>PROJECT</a:t>
            </a:r>
          </a:p>
        </p:txBody>
      </p:sp>
      <p:sp>
        <p:nvSpPr>
          <p:cNvPr name="TextBox 11" id="11"/>
          <p:cNvSpPr txBox="true"/>
          <p:nvPr/>
        </p:nvSpPr>
        <p:spPr>
          <a:xfrm rot="0">
            <a:off x="17041474" y="482985"/>
            <a:ext cx="620583" cy="273685"/>
          </a:xfrm>
          <a:prstGeom prst="rect">
            <a:avLst/>
          </a:prstGeom>
        </p:spPr>
        <p:txBody>
          <a:bodyPr anchor="t" rtlCol="false" tIns="0" lIns="0" bIns="0" rIns="0">
            <a:spAutoFit/>
          </a:bodyPr>
          <a:lstStyle/>
          <a:p>
            <a:pPr algn="r">
              <a:lnSpc>
                <a:spcPts val="2239"/>
              </a:lnSpc>
            </a:pPr>
            <a:r>
              <a:rPr lang="en-US" sz="1599" b="true">
                <a:solidFill>
                  <a:srgbClr val="737373"/>
                </a:solidFill>
                <a:latin typeface="Now Bold"/>
                <a:ea typeface="Now Bold"/>
                <a:cs typeface="Now Bold"/>
                <a:sym typeface="Now Bold"/>
              </a:rPr>
              <a:t>01</a:t>
            </a:r>
          </a:p>
        </p:txBody>
      </p:sp>
      <p:sp>
        <p:nvSpPr>
          <p:cNvPr name="TextBox 12" id="12"/>
          <p:cNvSpPr txBox="true"/>
          <p:nvPr/>
        </p:nvSpPr>
        <p:spPr>
          <a:xfrm rot="0">
            <a:off x="2532791" y="6942642"/>
            <a:ext cx="3438259" cy="398195"/>
          </a:xfrm>
          <a:prstGeom prst="rect">
            <a:avLst/>
          </a:prstGeom>
        </p:spPr>
        <p:txBody>
          <a:bodyPr anchor="t" rtlCol="false" tIns="0" lIns="0" bIns="0" rIns="0">
            <a:spAutoFit/>
          </a:bodyPr>
          <a:lstStyle/>
          <a:p>
            <a:pPr algn="ctr">
              <a:lnSpc>
                <a:spcPts val="3333"/>
              </a:lnSpc>
              <a:spcBef>
                <a:spcPct val="0"/>
              </a:spcBef>
            </a:pPr>
            <a:r>
              <a:rPr lang="en-US" sz="2380">
                <a:solidFill>
                  <a:srgbClr val="000000"/>
                </a:solidFill>
                <a:latin typeface="Now"/>
                <a:ea typeface="Now"/>
                <a:cs typeface="Now"/>
                <a:sym typeface="Now"/>
              </a:rPr>
              <a:t>Smart Attendance  App</a:t>
            </a:r>
          </a:p>
        </p:txBody>
      </p:sp>
      <p:sp>
        <p:nvSpPr>
          <p:cNvPr name="TextBox 13" id="13"/>
          <p:cNvSpPr txBox="true"/>
          <p:nvPr/>
        </p:nvSpPr>
        <p:spPr>
          <a:xfrm rot="0">
            <a:off x="11455494" y="8521415"/>
            <a:ext cx="6206562" cy="1416621"/>
          </a:xfrm>
          <a:prstGeom prst="rect">
            <a:avLst/>
          </a:prstGeom>
        </p:spPr>
        <p:txBody>
          <a:bodyPr anchor="t" rtlCol="false" tIns="0" lIns="0" bIns="0" rIns="0">
            <a:spAutoFit/>
          </a:bodyPr>
          <a:lstStyle/>
          <a:p>
            <a:pPr algn="ctr">
              <a:lnSpc>
                <a:spcPts val="3818"/>
              </a:lnSpc>
            </a:pPr>
            <a:r>
              <a:rPr lang="en-US" sz="2727">
                <a:solidFill>
                  <a:srgbClr val="595858"/>
                </a:solidFill>
                <a:latin typeface="TT Drugs"/>
                <a:ea typeface="TT Drugs"/>
                <a:cs typeface="TT Drugs"/>
                <a:sym typeface="TT Drugs"/>
              </a:rPr>
              <a:t>Presented By: Ganga S Anil</a:t>
            </a:r>
          </a:p>
          <a:p>
            <a:pPr algn="ctr">
              <a:lnSpc>
                <a:spcPts val="3818"/>
              </a:lnSpc>
            </a:pPr>
            <a:r>
              <a:rPr lang="en-US" sz="2727">
                <a:solidFill>
                  <a:srgbClr val="595858"/>
                </a:solidFill>
                <a:latin typeface="TT Drugs"/>
                <a:ea typeface="TT Drugs"/>
                <a:cs typeface="TT Drugs"/>
                <a:sym typeface="TT Drugs"/>
              </a:rPr>
              <a:t>LBSITW | B.Tech IT | SEM III</a:t>
            </a:r>
          </a:p>
          <a:p>
            <a:pPr algn="ctr">
              <a:lnSpc>
                <a:spcPts val="3818"/>
              </a:lnSpc>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DEDFDA"/>
        </a:solidFill>
      </p:bgPr>
    </p:bg>
    <p:spTree>
      <p:nvGrpSpPr>
        <p:cNvPr id="1" name=""/>
        <p:cNvGrpSpPr/>
        <p:nvPr/>
      </p:nvGrpSpPr>
      <p:grpSpPr>
        <a:xfrm>
          <a:off x="0" y="0"/>
          <a:ext cx="0" cy="0"/>
          <a:chOff x="0" y="0"/>
          <a:chExt cx="0" cy="0"/>
        </a:xfrm>
      </p:grpSpPr>
      <p:grpSp>
        <p:nvGrpSpPr>
          <p:cNvPr name="Group 2" id="2"/>
          <p:cNvGrpSpPr/>
          <p:nvPr/>
        </p:nvGrpSpPr>
        <p:grpSpPr>
          <a:xfrm rot="0">
            <a:off x="2016677" y="4944748"/>
            <a:ext cx="3854651" cy="642380"/>
            <a:chOff x="0" y="0"/>
            <a:chExt cx="1015217" cy="169186"/>
          </a:xfrm>
        </p:grpSpPr>
        <p:sp>
          <p:nvSpPr>
            <p:cNvPr name="Freeform 3" id="3"/>
            <p:cNvSpPr/>
            <p:nvPr/>
          </p:nvSpPr>
          <p:spPr>
            <a:xfrm flipH="false" flipV="false" rot="0">
              <a:off x="0" y="0"/>
              <a:ext cx="1015217" cy="169186"/>
            </a:xfrm>
            <a:custGeom>
              <a:avLst/>
              <a:gdLst/>
              <a:ahLst/>
              <a:cxnLst/>
              <a:rect r="r" b="b" t="t" l="l"/>
              <a:pathLst>
                <a:path h="169186" w="1015217">
                  <a:moveTo>
                    <a:pt x="84593" y="0"/>
                  </a:moveTo>
                  <a:lnTo>
                    <a:pt x="930624" y="0"/>
                  </a:lnTo>
                  <a:cubicBezTo>
                    <a:pt x="977343" y="0"/>
                    <a:pt x="1015217" y="37874"/>
                    <a:pt x="1015217" y="84593"/>
                  </a:cubicBezTo>
                  <a:lnTo>
                    <a:pt x="1015217" y="84593"/>
                  </a:lnTo>
                  <a:cubicBezTo>
                    <a:pt x="1015217" y="107029"/>
                    <a:pt x="1006304" y="128545"/>
                    <a:pt x="990440" y="144410"/>
                  </a:cubicBezTo>
                  <a:cubicBezTo>
                    <a:pt x="974576" y="160274"/>
                    <a:pt x="953059" y="169186"/>
                    <a:pt x="930624" y="169186"/>
                  </a:cubicBezTo>
                  <a:lnTo>
                    <a:pt x="84593" y="169186"/>
                  </a:lnTo>
                  <a:cubicBezTo>
                    <a:pt x="37874" y="169186"/>
                    <a:pt x="0" y="131313"/>
                    <a:pt x="0" y="84593"/>
                  </a:cubicBezTo>
                  <a:lnTo>
                    <a:pt x="0" y="84593"/>
                  </a:lnTo>
                  <a:cubicBezTo>
                    <a:pt x="0" y="37874"/>
                    <a:pt x="37874" y="0"/>
                    <a:pt x="84593" y="0"/>
                  </a:cubicBezTo>
                  <a:close/>
                </a:path>
              </a:pathLst>
            </a:custGeom>
            <a:ln w="19050" cap="rnd">
              <a:solidFill>
                <a:srgbClr val="595858"/>
              </a:solidFill>
              <a:prstDash val="solid"/>
              <a:round/>
            </a:ln>
          </p:spPr>
        </p:sp>
        <p:sp>
          <p:nvSpPr>
            <p:cNvPr name="TextBox 4" id="4"/>
            <p:cNvSpPr txBox="true"/>
            <p:nvPr/>
          </p:nvSpPr>
          <p:spPr>
            <a:xfrm>
              <a:off x="0" y="-38100"/>
              <a:ext cx="1015217" cy="207286"/>
            </a:xfrm>
            <a:prstGeom prst="rect">
              <a:avLst/>
            </a:prstGeom>
          </p:spPr>
          <p:txBody>
            <a:bodyPr anchor="ctr" rtlCol="false" tIns="50800" lIns="50800" bIns="50800" rIns="50800"/>
            <a:lstStyle/>
            <a:p>
              <a:pPr algn="ctr">
                <a:lnSpc>
                  <a:spcPts val="2239"/>
                </a:lnSpc>
              </a:pPr>
            </a:p>
          </p:txBody>
        </p:sp>
      </p:grpSp>
      <p:grpSp>
        <p:nvGrpSpPr>
          <p:cNvPr name="Group 5" id="5"/>
          <p:cNvGrpSpPr/>
          <p:nvPr/>
        </p:nvGrpSpPr>
        <p:grpSpPr>
          <a:xfrm rot="0">
            <a:off x="9413852" y="638878"/>
            <a:ext cx="2414911" cy="646832"/>
            <a:chOff x="0" y="0"/>
            <a:chExt cx="636026" cy="170359"/>
          </a:xfrm>
        </p:grpSpPr>
        <p:sp>
          <p:nvSpPr>
            <p:cNvPr name="Freeform 6" id="6"/>
            <p:cNvSpPr/>
            <p:nvPr/>
          </p:nvSpPr>
          <p:spPr>
            <a:xfrm flipH="false" flipV="false" rot="0">
              <a:off x="0" y="0"/>
              <a:ext cx="636026" cy="170359"/>
            </a:xfrm>
            <a:custGeom>
              <a:avLst/>
              <a:gdLst/>
              <a:ahLst/>
              <a:cxnLst/>
              <a:rect r="r" b="b" t="t" l="l"/>
              <a:pathLst>
                <a:path h="170359" w="636026">
                  <a:moveTo>
                    <a:pt x="85179" y="0"/>
                  </a:moveTo>
                  <a:lnTo>
                    <a:pt x="550846" y="0"/>
                  </a:lnTo>
                  <a:cubicBezTo>
                    <a:pt x="597890" y="0"/>
                    <a:pt x="636026" y="38136"/>
                    <a:pt x="636026" y="85179"/>
                  </a:cubicBezTo>
                  <a:lnTo>
                    <a:pt x="636026" y="85179"/>
                  </a:lnTo>
                  <a:cubicBezTo>
                    <a:pt x="636026" y="132223"/>
                    <a:pt x="597890" y="170359"/>
                    <a:pt x="550846" y="170359"/>
                  </a:cubicBezTo>
                  <a:lnTo>
                    <a:pt x="85179" y="170359"/>
                  </a:lnTo>
                  <a:cubicBezTo>
                    <a:pt x="38136" y="170359"/>
                    <a:pt x="0" y="132223"/>
                    <a:pt x="0" y="85179"/>
                  </a:cubicBezTo>
                  <a:lnTo>
                    <a:pt x="0" y="85179"/>
                  </a:lnTo>
                  <a:cubicBezTo>
                    <a:pt x="0" y="38136"/>
                    <a:pt x="38136" y="0"/>
                    <a:pt x="85179" y="0"/>
                  </a:cubicBezTo>
                  <a:close/>
                </a:path>
              </a:pathLst>
            </a:custGeom>
            <a:ln w="19050" cap="rnd">
              <a:solidFill>
                <a:srgbClr val="595858"/>
              </a:solidFill>
              <a:prstDash val="solid"/>
              <a:round/>
            </a:ln>
          </p:spPr>
        </p:sp>
        <p:sp>
          <p:nvSpPr>
            <p:cNvPr name="TextBox 7" id="7"/>
            <p:cNvSpPr txBox="true"/>
            <p:nvPr/>
          </p:nvSpPr>
          <p:spPr>
            <a:xfrm>
              <a:off x="0" y="-38100"/>
              <a:ext cx="636026" cy="208459"/>
            </a:xfrm>
            <a:prstGeom prst="rect">
              <a:avLst/>
            </a:prstGeom>
          </p:spPr>
          <p:txBody>
            <a:bodyPr anchor="ctr" rtlCol="false" tIns="50800" lIns="50800" bIns="50800" rIns="50800"/>
            <a:lstStyle/>
            <a:p>
              <a:pPr algn="ctr">
                <a:lnSpc>
                  <a:spcPts val="2239"/>
                </a:lnSpc>
              </a:pPr>
            </a:p>
          </p:txBody>
        </p:sp>
      </p:grpSp>
      <p:grpSp>
        <p:nvGrpSpPr>
          <p:cNvPr name="Group 8" id="8"/>
          <p:cNvGrpSpPr/>
          <p:nvPr/>
        </p:nvGrpSpPr>
        <p:grpSpPr>
          <a:xfrm rot="0">
            <a:off x="9413852" y="2259483"/>
            <a:ext cx="2414911" cy="511810"/>
            <a:chOff x="0" y="0"/>
            <a:chExt cx="636026" cy="134798"/>
          </a:xfrm>
        </p:grpSpPr>
        <p:sp>
          <p:nvSpPr>
            <p:cNvPr name="Freeform 9" id="9"/>
            <p:cNvSpPr/>
            <p:nvPr/>
          </p:nvSpPr>
          <p:spPr>
            <a:xfrm flipH="false" flipV="false" rot="0">
              <a:off x="0" y="0"/>
              <a:ext cx="636026" cy="134798"/>
            </a:xfrm>
            <a:custGeom>
              <a:avLst/>
              <a:gdLst/>
              <a:ahLst/>
              <a:cxnLst/>
              <a:rect r="r" b="b" t="t" l="l"/>
              <a:pathLst>
                <a:path h="134798" w="636026">
                  <a:moveTo>
                    <a:pt x="67399" y="0"/>
                  </a:moveTo>
                  <a:lnTo>
                    <a:pt x="568627" y="0"/>
                  </a:lnTo>
                  <a:cubicBezTo>
                    <a:pt x="605850" y="0"/>
                    <a:pt x="636026" y="30175"/>
                    <a:pt x="636026" y="67399"/>
                  </a:cubicBezTo>
                  <a:lnTo>
                    <a:pt x="636026" y="67399"/>
                  </a:lnTo>
                  <a:cubicBezTo>
                    <a:pt x="636026" y="104622"/>
                    <a:pt x="605850" y="134798"/>
                    <a:pt x="568627" y="134798"/>
                  </a:cubicBezTo>
                  <a:lnTo>
                    <a:pt x="67399" y="134798"/>
                  </a:lnTo>
                  <a:cubicBezTo>
                    <a:pt x="30175" y="134798"/>
                    <a:pt x="0" y="104622"/>
                    <a:pt x="0" y="67399"/>
                  </a:cubicBezTo>
                  <a:lnTo>
                    <a:pt x="0" y="67399"/>
                  </a:lnTo>
                  <a:cubicBezTo>
                    <a:pt x="0" y="30175"/>
                    <a:pt x="30175" y="0"/>
                    <a:pt x="67399" y="0"/>
                  </a:cubicBezTo>
                  <a:close/>
                </a:path>
              </a:pathLst>
            </a:custGeom>
            <a:ln w="19050" cap="rnd">
              <a:solidFill>
                <a:srgbClr val="595858"/>
              </a:solidFill>
              <a:prstDash val="solid"/>
              <a:round/>
            </a:ln>
          </p:spPr>
        </p:sp>
        <p:sp>
          <p:nvSpPr>
            <p:cNvPr name="TextBox 10" id="10"/>
            <p:cNvSpPr txBox="true"/>
            <p:nvPr/>
          </p:nvSpPr>
          <p:spPr>
            <a:xfrm>
              <a:off x="0" y="-38100"/>
              <a:ext cx="636026" cy="172898"/>
            </a:xfrm>
            <a:prstGeom prst="rect">
              <a:avLst/>
            </a:prstGeom>
          </p:spPr>
          <p:txBody>
            <a:bodyPr anchor="ctr" rtlCol="false" tIns="50800" lIns="50800" bIns="50800" rIns="50800"/>
            <a:lstStyle/>
            <a:p>
              <a:pPr algn="ctr">
                <a:lnSpc>
                  <a:spcPts val="2239"/>
                </a:lnSpc>
              </a:pPr>
            </a:p>
          </p:txBody>
        </p:sp>
      </p:grpSp>
      <p:grpSp>
        <p:nvGrpSpPr>
          <p:cNvPr name="Group 11" id="11"/>
          <p:cNvGrpSpPr/>
          <p:nvPr/>
        </p:nvGrpSpPr>
        <p:grpSpPr>
          <a:xfrm rot="0">
            <a:off x="9413852" y="3761893"/>
            <a:ext cx="2414911" cy="607060"/>
            <a:chOff x="0" y="0"/>
            <a:chExt cx="636026" cy="159884"/>
          </a:xfrm>
        </p:grpSpPr>
        <p:sp>
          <p:nvSpPr>
            <p:cNvPr name="Freeform 12" id="12"/>
            <p:cNvSpPr/>
            <p:nvPr/>
          </p:nvSpPr>
          <p:spPr>
            <a:xfrm flipH="false" flipV="false" rot="0">
              <a:off x="0" y="0"/>
              <a:ext cx="636026" cy="159884"/>
            </a:xfrm>
            <a:custGeom>
              <a:avLst/>
              <a:gdLst/>
              <a:ahLst/>
              <a:cxnLst/>
              <a:rect r="r" b="b" t="t" l="l"/>
              <a:pathLst>
                <a:path h="159884" w="636026">
                  <a:moveTo>
                    <a:pt x="79942" y="0"/>
                  </a:moveTo>
                  <a:lnTo>
                    <a:pt x="556084" y="0"/>
                  </a:lnTo>
                  <a:cubicBezTo>
                    <a:pt x="600235" y="0"/>
                    <a:pt x="636026" y="35791"/>
                    <a:pt x="636026" y="79942"/>
                  </a:cubicBezTo>
                  <a:lnTo>
                    <a:pt x="636026" y="79942"/>
                  </a:lnTo>
                  <a:cubicBezTo>
                    <a:pt x="636026" y="101144"/>
                    <a:pt x="627603" y="121478"/>
                    <a:pt x="612611" y="136470"/>
                  </a:cubicBezTo>
                  <a:cubicBezTo>
                    <a:pt x="597619" y="151462"/>
                    <a:pt x="577286" y="159884"/>
                    <a:pt x="556084" y="159884"/>
                  </a:cubicBezTo>
                  <a:lnTo>
                    <a:pt x="79942" y="159884"/>
                  </a:lnTo>
                  <a:cubicBezTo>
                    <a:pt x="58740" y="159884"/>
                    <a:pt x="38407" y="151462"/>
                    <a:pt x="23414" y="136470"/>
                  </a:cubicBezTo>
                  <a:cubicBezTo>
                    <a:pt x="8422" y="121478"/>
                    <a:pt x="0" y="101144"/>
                    <a:pt x="0" y="79942"/>
                  </a:cubicBezTo>
                  <a:lnTo>
                    <a:pt x="0" y="79942"/>
                  </a:lnTo>
                  <a:cubicBezTo>
                    <a:pt x="0" y="58740"/>
                    <a:pt x="8422" y="38407"/>
                    <a:pt x="23414" y="23414"/>
                  </a:cubicBezTo>
                  <a:cubicBezTo>
                    <a:pt x="38407" y="8422"/>
                    <a:pt x="58740" y="0"/>
                    <a:pt x="79942" y="0"/>
                  </a:cubicBezTo>
                  <a:close/>
                </a:path>
              </a:pathLst>
            </a:custGeom>
            <a:ln w="19050" cap="rnd">
              <a:solidFill>
                <a:srgbClr val="595858"/>
              </a:solidFill>
              <a:prstDash val="solid"/>
              <a:round/>
            </a:ln>
          </p:spPr>
        </p:sp>
        <p:sp>
          <p:nvSpPr>
            <p:cNvPr name="TextBox 13" id="13"/>
            <p:cNvSpPr txBox="true"/>
            <p:nvPr/>
          </p:nvSpPr>
          <p:spPr>
            <a:xfrm>
              <a:off x="0" y="-38100"/>
              <a:ext cx="636026" cy="197984"/>
            </a:xfrm>
            <a:prstGeom prst="rect">
              <a:avLst/>
            </a:prstGeom>
          </p:spPr>
          <p:txBody>
            <a:bodyPr anchor="ctr" rtlCol="false" tIns="50800" lIns="50800" bIns="50800" rIns="50800"/>
            <a:lstStyle/>
            <a:p>
              <a:pPr algn="ctr">
                <a:lnSpc>
                  <a:spcPts val="2239"/>
                </a:lnSpc>
              </a:pPr>
            </a:p>
          </p:txBody>
        </p:sp>
      </p:grpSp>
      <p:sp>
        <p:nvSpPr>
          <p:cNvPr name="AutoShape 14" id="14"/>
          <p:cNvSpPr/>
          <p:nvPr/>
        </p:nvSpPr>
        <p:spPr>
          <a:xfrm flipH="true">
            <a:off x="9050152" y="-264186"/>
            <a:ext cx="0" cy="10734089"/>
          </a:xfrm>
          <a:prstGeom prst="line">
            <a:avLst/>
          </a:prstGeom>
          <a:ln cap="flat" w="9525">
            <a:solidFill>
              <a:srgbClr val="000000"/>
            </a:solidFill>
            <a:prstDash val="solid"/>
            <a:headEnd type="none" len="sm" w="sm"/>
            <a:tailEnd type="none" len="sm" w="sm"/>
          </a:ln>
        </p:spPr>
      </p:sp>
      <p:sp>
        <p:nvSpPr>
          <p:cNvPr name="Freeform 15" id="15"/>
          <p:cNvSpPr/>
          <p:nvPr/>
        </p:nvSpPr>
        <p:spPr>
          <a:xfrm flipH="false" flipV="false" rot="2700000">
            <a:off x="17403571" y="9455408"/>
            <a:ext cx="250141" cy="250141"/>
          </a:xfrm>
          <a:custGeom>
            <a:avLst/>
            <a:gdLst/>
            <a:ahLst/>
            <a:cxnLst/>
            <a:rect r="r" b="b" t="t" l="l"/>
            <a:pathLst>
              <a:path h="250141" w="250141">
                <a:moveTo>
                  <a:pt x="0" y="0"/>
                </a:moveTo>
                <a:lnTo>
                  <a:pt x="250141" y="0"/>
                </a:lnTo>
                <a:lnTo>
                  <a:pt x="250141" y="250142"/>
                </a:lnTo>
                <a:lnTo>
                  <a:pt x="0" y="2501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6" id="16"/>
          <p:cNvGrpSpPr/>
          <p:nvPr/>
        </p:nvGrpSpPr>
        <p:grpSpPr>
          <a:xfrm rot="0">
            <a:off x="9448162" y="5343963"/>
            <a:ext cx="2414911" cy="646832"/>
            <a:chOff x="0" y="0"/>
            <a:chExt cx="636026" cy="170359"/>
          </a:xfrm>
        </p:grpSpPr>
        <p:sp>
          <p:nvSpPr>
            <p:cNvPr name="Freeform 17" id="17"/>
            <p:cNvSpPr/>
            <p:nvPr/>
          </p:nvSpPr>
          <p:spPr>
            <a:xfrm flipH="false" flipV="false" rot="0">
              <a:off x="0" y="0"/>
              <a:ext cx="636026" cy="170359"/>
            </a:xfrm>
            <a:custGeom>
              <a:avLst/>
              <a:gdLst/>
              <a:ahLst/>
              <a:cxnLst/>
              <a:rect r="r" b="b" t="t" l="l"/>
              <a:pathLst>
                <a:path h="170359" w="636026">
                  <a:moveTo>
                    <a:pt x="85179" y="0"/>
                  </a:moveTo>
                  <a:lnTo>
                    <a:pt x="550846" y="0"/>
                  </a:lnTo>
                  <a:cubicBezTo>
                    <a:pt x="597890" y="0"/>
                    <a:pt x="636026" y="38136"/>
                    <a:pt x="636026" y="85179"/>
                  </a:cubicBezTo>
                  <a:lnTo>
                    <a:pt x="636026" y="85179"/>
                  </a:lnTo>
                  <a:cubicBezTo>
                    <a:pt x="636026" y="132223"/>
                    <a:pt x="597890" y="170359"/>
                    <a:pt x="550846" y="170359"/>
                  </a:cubicBezTo>
                  <a:lnTo>
                    <a:pt x="85179" y="170359"/>
                  </a:lnTo>
                  <a:cubicBezTo>
                    <a:pt x="38136" y="170359"/>
                    <a:pt x="0" y="132223"/>
                    <a:pt x="0" y="85179"/>
                  </a:cubicBezTo>
                  <a:lnTo>
                    <a:pt x="0" y="85179"/>
                  </a:lnTo>
                  <a:cubicBezTo>
                    <a:pt x="0" y="38136"/>
                    <a:pt x="38136" y="0"/>
                    <a:pt x="85179" y="0"/>
                  </a:cubicBezTo>
                  <a:close/>
                </a:path>
              </a:pathLst>
            </a:custGeom>
            <a:ln w="19050" cap="rnd">
              <a:solidFill>
                <a:srgbClr val="595858"/>
              </a:solidFill>
              <a:prstDash val="solid"/>
              <a:round/>
            </a:ln>
          </p:spPr>
        </p:sp>
        <p:sp>
          <p:nvSpPr>
            <p:cNvPr name="TextBox 18" id="18"/>
            <p:cNvSpPr txBox="true"/>
            <p:nvPr/>
          </p:nvSpPr>
          <p:spPr>
            <a:xfrm>
              <a:off x="0" y="-38100"/>
              <a:ext cx="636026" cy="208459"/>
            </a:xfrm>
            <a:prstGeom prst="rect">
              <a:avLst/>
            </a:prstGeom>
          </p:spPr>
          <p:txBody>
            <a:bodyPr anchor="ctr" rtlCol="false" tIns="50800" lIns="50800" bIns="50800" rIns="50800"/>
            <a:lstStyle/>
            <a:p>
              <a:pPr algn="ctr">
                <a:lnSpc>
                  <a:spcPts val="2239"/>
                </a:lnSpc>
              </a:pPr>
            </a:p>
          </p:txBody>
        </p:sp>
      </p:grpSp>
      <p:grpSp>
        <p:nvGrpSpPr>
          <p:cNvPr name="Group 19" id="19"/>
          <p:cNvGrpSpPr/>
          <p:nvPr/>
        </p:nvGrpSpPr>
        <p:grpSpPr>
          <a:xfrm rot="0">
            <a:off x="9448162" y="6876182"/>
            <a:ext cx="2414911" cy="646832"/>
            <a:chOff x="0" y="0"/>
            <a:chExt cx="636026" cy="170359"/>
          </a:xfrm>
        </p:grpSpPr>
        <p:sp>
          <p:nvSpPr>
            <p:cNvPr name="Freeform 20" id="20"/>
            <p:cNvSpPr/>
            <p:nvPr/>
          </p:nvSpPr>
          <p:spPr>
            <a:xfrm flipH="false" flipV="false" rot="0">
              <a:off x="0" y="0"/>
              <a:ext cx="636026" cy="170359"/>
            </a:xfrm>
            <a:custGeom>
              <a:avLst/>
              <a:gdLst/>
              <a:ahLst/>
              <a:cxnLst/>
              <a:rect r="r" b="b" t="t" l="l"/>
              <a:pathLst>
                <a:path h="170359" w="636026">
                  <a:moveTo>
                    <a:pt x="85179" y="0"/>
                  </a:moveTo>
                  <a:lnTo>
                    <a:pt x="550846" y="0"/>
                  </a:lnTo>
                  <a:cubicBezTo>
                    <a:pt x="597890" y="0"/>
                    <a:pt x="636026" y="38136"/>
                    <a:pt x="636026" y="85179"/>
                  </a:cubicBezTo>
                  <a:lnTo>
                    <a:pt x="636026" y="85179"/>
                  </a:lnTo>
                  <a:cubicBezTo>
                    <a:pt x="636026" y="132223"/>
                    <a:pt x="597890" y="170359"/>
                    <a:pt x="550846" y="170359"/>
                  </a:cubicBezTo>
                  <a:lnTo>
                    <a:pt x="85179" y="170359"/>
                  </a:lnTo>
                  <a:cubicBezTo>
                    <a:pt x="38136" y="170359"/>
                    <a:pt x="0" y="132223"/>
                    <a:pt x="0" y="85179"/>
                  </a:cubicBezTo>
                  <a:lnTo>
                    <a:pt x="0" y="85179"/>
                  </a:lnTo>
                  <a:cubicBezTo>
                    <a:pt x="0" y="38136"/>
                    <a:pt x="38136" y="0"/>
                    <a:pt x="85179" y="0"/>
                  </a:cubicBezTo>
                  <a:close/>
                </a:path>
              </a:pathLst>
            </a:custGeom>
            <a:ln w="19050" cap="rnd">
              <a:solidFill>
                <a:srgbClr val="595858"/>
              </a:solidFill>
              <a:prstDash val="solid"/>
              <a:round/>
            </a:ln>
          </p:spPr>
        </p:sp>
        <p:sp>
          <p:nvSpPr>
            <p:cNvPr name="TextBox 21" id="21"/>
            <p:cNvSpPr txBox="true"/>
            <p:nvPr/>
          </p:nvSpPr>
          <p:spPr>
            <a:xfrm>
              <a:off x="0" y="-38100"/>
              <a:ext cx="636026" cy="208459"/>
            </a:xfrm>
            <a:prstGeom prst="rect">
              <a:avLst/>
            </a:prstGeom>
          </p:spPr>
          <p:txBody>
            <a:bodyPr anchor="ctr" rtlCol="false" tIns="50800" lIns="50800" bIns="50800" rIns="50800"/>
            <a:lstStyle/>
            <a:p>
              <a:pPr algn="ctr">
                <a:lnSpc>
                  <a:spcPts val="2239"/>
                </a:lnSpc>
              </a:pPr>
            </a:p>
          </p:txBody>
        </p:sp>
      </p:grpSp>
      <p:sp>
        <p:nvSpPr>
          <p:cNvPr name="TextBox 22" id="22"/>
          <p:cNvSpPr txBox="true"/>
          <p:nvPr/>
        </p:nvSpPr>
        <p:spPr>
          <a:xfrm rot="0">
            <a:off x="2016677" y="1800912"/>
            <a:ext cx="5589899" cy="2456815"/>
          </a:xfrm>
          <a:prstGeom prst="rect">
            <a:avLst/>
          </a:prstGeom>
        </p:spPr>
        <p:txBody>
          <a:bodyPr anchor="t" rtlCol="false" tIns="0" lIns="0" bIns="0" rIns="0">
            <a:spAutoFit/>
          </a:bodyPr>
          <a:lstStyle/>
          <a:p>
            <a:pPr algn="l">
              <a:lnSpc>
                <a:spcPts val="9799"/>
              </a:lnSpc>
            </a:pPr>
            <a:r>
              <a:rPr lang="en-US" sz="6999" b="true">
                <a:solidFill>
                  <a:srgbClr val="595858"/>
                </a:solidFill>
                <a:latin typeface="Now Bold"/>
                <a:ea typeface="Now Bold"/>
                <a:cs typeface="Now Bold"/>
                <a:sym typeface="Now Bold"/>
              </a:rPr>
              <a:t>Problem Statement</a:t>
            </a:r>
          </a:p>
        </p:txBody>
      </p:sp>
      <p:sp>
        <p:nvSpPr>
          <p:cNvPr name="TextBox 23" id="23"/>
          <p:cNvSpPr txBox="true"/>
          <p:nvPr/>
        </p:nvSpPr>
        <p:spPr>
          <a:xfrm rot="0">
            <a:off x="2016677" y="5952694"/>
            <a:ext cx="4429939" cy="2759710"/>
          </a:xfrm>
          <a:prstGeom prst="rect">
            <a:avLst/>
          </a:prstGeom>
        </p:spPr>
        <p:txBody>
          <a:bodyPr anchor="t" rtlCol="false" tIns="0" lIns="0" bIns="0" rIns="0">
            <a:spAutoFit/>
          </a:bodyPr>
          <a:lstStyle/>
          <a:p>
            <a:pPr algn="l">
              <a:lnSpc>
                <a:spcPts val="2239"/>
              </a:lnSpc>
            </a:pPr>
            <a:r>
              <a:rPr lang="en-US" sz="1599">
                <a:solidFill>
                  <a:srgbClr val="737373"/>
                </a:solidFill>
                <a:latin typeface="Now"/>
                <a:ea typeface="Now"/>
                <a:cs typeface="Now"/>
                <a:sym typeface="Now"/>
              </a:rPr>
              <a:t>To develop an intelligent attendance management system that automates attendance tracking using facial recognition and cloud-based data management.</a:t>
            </a:r>
          </a:p>
          <a:p>
            <a:pPr algn="l">
              <a:lnSpc>
                <a:spcPts val="2239"/>
              </a:lnSpc>
            </a:pPr>
          </a:p>
          <a:p>
            <a:pPr algn="l">
              <a:lnSpc>
                <a:spcPts val="2239"/>
              </a:lnSpc>
            </a:pPr>
          </a:p>
          <a:p>
            <a:pPr algn="l">
              <a:lnSpc>
                <a:spcPts val="2239"/>
              </a:lnSpc>
            </a:pPr>
            <a:r>
              <a:rPr lang="en-US" sz="1599">
                <a:solidFill>
                  <a:srgbClr val="737373"/>
                </a:solidFill>
                <a:latin typeface="Now"/>
                <a:ea typeface="Now"/>
                <a:cs typeface="Now"/>
                <a:sym typeface="Now"/>
              </a:rPr>
              <a:t>Visual Suggestion: Add a small image of a classroom, attendance sheet, or teacher taking attendance.</a:t>
            </a:r>
          </a:p>
          <a:p>
            <a:pPr algn="l">
              <a:lnSpc>
                <a:spcPts val="2239"/>
              </a:lnSpc>
            </a:pPr>
          </a:p>
        </p:txBody>
      </p:sp>
      <p:sp>
        <p:nvSpPr>
          <p:cNvPr name="TextBox 24" id="24"/>
          <p:cNvSpPr txBox="true"/>
          <p:nvPr/>
        </p:nvSpPr>
        <p:spPr>
          <a:xfrm rot="0">
            <a:off x="12190713" y="718570"/>
            <a:ext cx="4429939" cy="549910"/>
          </a:xfrm>
          <a:prstGeom prst="rect">
            <a:avLst/>
          </a:prstGeom>
        </p:spPr>
        <p:txBody>
          <a:bodyPr anchor="t" rtlCol="false" tIns="0" lIns="0" bIns="0" rIns="0">
            <a:spAutoFit/>
          </a:bodyPr>
          <a:lstStyle/>
          <a:p>
            <a:pPr algn="l">
              <a:lnSpc>
                <a:spcPts val="2239"/>
              </a:lnSpc>
            </a:pPr>
            <a:r>
              <a:rPr lang="en-US" sz="1599">
                <a:solidFill>
                  <a:srgbClr val="737373"/>
                </a:solidFill>
                <a:latin typeface="Now"/>
                <a:ea typeface="Now"/>
                <a:cs typeface="Now"/>
                <a:sym typeface="Now"/>
              </a:rPr>
              <a:t>Manual attendance consumes valuable classroom time</a:t>
            </a:r>
          </a:p>
        </p:txBody>
      </p:sp>
      <p:sp>
        <p:nvSpPr>
          <p:cNvPr name="TextBox 25" id="25"/>
          <p:cNvSpPr txBox="true"/>
          <p:nvPr/>
        </p:nvSpPr>
        <p:spPr>
          <a:xfrm rot="0">
            <a:off x="12190713" y="2221383"/>
            <a:ext cx="4429939" cy="549910"/>
          </a:xfrm>
          <a:prstGeom prst="rect">
            <a:avLst/>
          </a:prstGeom>
        </p:spPr>
        <p:txBody>
          <a:bodyPr anchor="t" rtlCol="false" tIns="0" lIns="0" bIns="0" rIns="0">
            <a:spAutoFit/>
          </a:bodyPr>
          <a:lstStyle/>
          <a:p>
            <a:pPr algn="l">
              <a:lnSpc>
                <a:spcPts val="2239"/>
              </a:lnSpc>
            </a:pPr>
            <a:r>
              <a:rPr lang="en-US" sz="1599">
                <a:solidFill>
                  <a:srgbClr val="737373"/>
                </a:solidFill>
                <a:latin typeface="Now"/>
                <a:ea typeface="Now"/>
                <a:cs typeface="Now"/>
                <a:sym typeface="Now"/>
              </a:rPr>
              <a:t>Students can mark attendance for absent classmates.</a:t>
            </a:r>
          </a:p>
        </p:txBody>
      </p:sp>
      <p:sp>
        <p:nvSpPr>
          <p:cNvPr name="TextBox 26" id="26"/>
          <p:cNvSpPr txBox="true"/>
          <p:nvPr/>
        </p:nvSpPr>
        <p:spPr>
          <a:xfrm rot="0">
            <a:off x="12190713" y="3819043"/>
            <a:ext cx="4429939" cy="549910"/>
          </a:xfrm>
          <a:prstGeom prst="rect">
            <a:avLst/>
          </a:prstGeom>
        </p:spPr>
        <p:txBody>
          <a:bodyPr anchor="t" rtlCol="false" tIns="0" lIns="0" bIns="0" rIns="0">
            <a:spAutoFit/>
          </a:bodyPr>
          <a:lstStyle/>
          <a:p>
            <a:pPr algn="l">
              <a:lnSpc>
                <a:spcPts val="2239"/>
              </a:lnSpc>
            </a:pPr>
            <a:r>
              <a:rPr lang="en-US" sz="1599">
                <a:solidFill>
                  <a:srgbClr val="737373"/>
                </a:solidFill>
                <a:latin typeface="Now"/>
                <a:ea typeface="Now"/>
                <a:cs typeface="Now"/>
                <a:sym typeface="Now"/>
              </a:rPr>
              <a:t>Maintaining attendance records manually is difficult and error-prone.</a:t>
            </a:r>
          </a:p>
        </p:txBody>
      </p:sp>
      <p:sp>
        <p:nvSpPr>
          <p:cNvPr name="TextBox 27" id="27"/>
          <p:cNvSpPr txBox="true"/>
          <p:nvPr/>
        </p:nvSpPr>
        <p:spPr>
          <a:xfrm rot="0">
            <a:off x="17406548" y="482985"/>
            <a:ext cx="255508" cy="273685"/>
          </a:xfrm>
          <a:prstGeom prst="rect">
            <a:avLst/>
          </a:prstGeom>
        </p:spPr>
        <p:txBody>
          <a:bodyPr anchor="t" rtlCol="false" tIns="0" lIns="0" bIns="0" rIns="0">
            <a:spAutoFit/>
          </a:bodyPr>
          <a:lstStyle/>
          <a:p>
            <a:pPr algn="r">
              <a:lnSpc>
                <a:spcPts val="2239"/>
              </a:lnSpc>
            </a:pPr>
            <a:r>
              <a:rPr lang="en-US" sz="1599" b="true">
                <a:solidFill>
                  <a:srgbClr val="737373"/>
                </a:solidFill>
                <a:latin typeface="Now Bold"/>
                <a:ea typeface="Now Bold"/>
                <a:cs typeface="Now Bold"/>
                <a:sym typeface="Now Bold"/>
              </a:rPr>
              <a:t>02</a:t>
            </a:r>
          </a:p>
        </p:txBody>
      </p:sp>
      <p:sp>
        <p:nvSpPr>
          <p:cNvPr name="TextBox 28" id="28"/>
          <p:cNvSpPr txBox="true"/>
          <p:nvPr/>
        </p:nvSpPr>
        <p:spPr>
          <a:xfrm rot="0">
            <a:off x="9735899" y="718570"/>
            <a:ext cx="1770817" cy="549910"/>
          </a:xfrm>
          <a:prstGeom prst="rect">
            <a:avLst/>
          </a:prstGeom>
        </p:spPr>
        <p:txBody>
          <a:bodyPr anchor="t" rtlCol="false" tIns="0" lIns="0" bIns="0" rIns="0">
            <a:spAutoFit/>
          </a:bodyPr>
          <a:lstStyle/>
          <a:p>
            <a:pPr algn="ctr">
              <a:lnSpc>
                <a:spcPts val="2239"/>
              </a:lnSpc>
              <a:spcBef>
                <a:spcPct val="0"/>
              </a:spcBef>
            </a:pPr>
            <a:r>
              <a:rPr lang="en-US" sz="1599">
                <a:solidFill>
                  <a:srgbClr val="000000"/>
                </a:solidFill>
                <a:latin typeface="Now"/>
                <a:ea typeface="Now"/>
                <a:cs typeface="Now"/>
                <a:sym typeface="Now"/>
              </a:rPr>
              <a:t>Time-C</a:t>
            </a:r>
            <a:r>
              <a:rPr lang="en-US" sz="1599">
                <a:solidFill>
                  <a:srgbClr val="000000"/>
                </a:solidFill>
                <a:latin typeface="Now"/>
                <a:ea typeface="Now"/>
                <a:cs typeface="Now"/>
                <a:sym typeface="Now"/>
              </a:rPr>
              <a:t>onsuming Process</a:t>
            </a:r>
          </a:p>
        </p:txBody>
      </p:sp>
      <p:sp>
        <p:nvSpPr>
          <p:cNvPr name="TextBox 29" id="29"/>
          <p:cNvSpPr txBox="true"/>
          <p:nvPr/>
        </p:nvSpPr>
        <p:spPr>
          <a:xfrm rot="0">
            <a:off x="9615944" y="2337364"/>
            <a:ext cx="2079348" cy="317949"/>
          </a:xfrm>
          <a:prstGeom prst="rect">
            <a:avLst/>
          </a:prstGeom>
        </p:spPr>
        <p:txBody>
          <a:bodyPr anchor="t" rtlCol="false" tIns="0" lIns="0" bIns="0" rIns="0">
            <a:spAutoFit/>
          </a:bodyPr>
          <a:lstStyle/>
          <a:p>
            <a:pPr algn="l">
              <a:lnSpc>
                <a:spcPts val="2660"/>
              </a:lnSpc>
              <a:spcBef>
                <a:spcPct val="0"/>
              </a:spcBef>
            </a:pPr>
            <a:r>
              <a:rPr lang="en-US" sz="1900">
                <a:solidFill>
                  <a:srgbClr val="000000"/>
                </a:solidFill>
                <a:latin typeface="Now"/>
                <a:ea typeface="Now"/>
                <a:cs typeface="Now"/>
                <a:sym typeface="Now"/>
              </a:rPr>
              <a:t>Proxy Attendance</a:t>
            </a:r>
          </a:p>
        </p:txBody>
      </p:sp>
      <p:sp>
        <p:nvSpPr>
          <p:cNvPr name="TextBox 30" id="30"/>
          <p:cNvSpPr txBox="true"/>
          <p:nvPr/>
        </p:nvSpPr>
        <p:spPr>
          <a:xfrm rot="0">
            <a:off x="9864391" y="3763623"/>
            <a:ext cx="1582454" cy="549910"/>
          </a:xfrm>
          <a:prstGeom prst="rect">
            <a:avLst/>
          </a:prstGeom>
        </p:spPr>
        <p:txBody>
          <a:bodyPr anchor="t" rtlCol="false" tIns="0" lIns="0" bIns="0" rIns="0">
            <a:spAutoFit/>
          </a:bodyPr>
          <a:lstStyle/>
          <a:p>
            <a:pPr algn="l">
              <a:lnSpc>
                <a:spcPts val="2239"/>
              </a:lnSpc>
              <a:spcBef>
                <a:spcPct val="0"/>
              </a:spcBef>
            </a:pPr>
            <a:r>
              <a:rPr lang="en-US" sz="1599">
                <a:solidFill>
                  <a:srgbClr val="000000"/>
                </a:solidFill>
                <a:latin typeface="Now"/>
                <a:ea typeface="Now"/>
                <a:cs typeface="Now"/>
                <a:sym typeface="Now"/>
              </a:rPr>
              <a:t>  Poor Rec</a:t>
            </a:r>
            <a:r>
              <a:rPr lang="en-US" sz="1599">
                <a:solidFill>
                  <a:srgbClr val="000000"/>
                </a:solidFill>
                <a:latin typeface="Now"/>
                <a:ea typeface="Now"/>
                <a:cs typeface="Now"/>
                <a:sym typeface="Now"/>
              </a:rPr>
              <a:t>ord    </a:t>
            </a:r>
          </a:p>
          <a:p>
            <a:pPr algn="l">
              <a:lnSpc>
                <a:spcPts val="2239"/>
              </a:lnSpc>
              <a:spcBef>
                <a:spcPct val="0"/>
              </a:spcBef>
            </a:pPr>
            <a:r>
              <a:rPr lang="en-US" sz="1599">
                <a:solidFill>
                  <a:srgbClr val="000000"/>
                </a:solidFill>
                <a:latin typeface="Now"/>
                <a:ea typeface="Now"/>
                <a:cs typeface="Now"/>
                <a:sym typeface="Now"/>
              </a:rPr>
              <a:t>Management</a:t>
            </a:r>
          </a:p>
        </p:txBody>
      </p:sp>
      <p:sp>
        <p:nvSpPr>
          <p:cNvPr name="TextBox 31" id="31"/>
          <p:cNvSpPr txBox="true"/>
          <p:nvPr/>
        </p:nvSpPr>
        <p:spPr>
          <a:xfrm rot="0">
            <a:off x="9615944" y="5558553"/>
            <a:ext cx="2414911" cy="280670"/>
          </a:xfrm>
          <a:prstGeom prst="rect">
            <a:avLst/>
          </a:prstGeom>
        </p:spPr>
        <p:txBody>
          <a:bodyPr anchor="t" rtlCol="false" tIns="0" lIns="0" bIns="0" rIns="0">
            <a:spAutoFit/>
          </a:bodyPr>
          <a:lstStyle/>
          <a:p>
            <a:pPr algn="l">
              <a:lnSpc>
                <a:spcPts val="2379"/>
              </a:lnSpc>
              <a:spcBef>
                <a:spcPct val="0"/>
              </a:spcBef>
            </a:pPr>
            <a:r>
              <a:rPr lang="en-US" sz="1699">
                <a:solidFill>
                  <a:srgbClr val="000000"/>
                </a:solidFill>
                <a:latin typeface="Now"/>
                <a:ea typeface="Now"/>
                <a:cs typeface="Now"/>
                <a:sym typeface="Now"/>
              </a:rPr>
              <a:t>Lack of Automation</a:t>
            </a:r>
          </a:p>
        </p:txBody>
      </p:sp>
      <p:sp>
        <p:nvSpPr>
          <p:cNvPr name="TextBox 32" id="32"/>
          <p:cNvSpPr txBox="true"/>
          <p:nvPr/>
        </p:nvSpPr>
        <p:spPr>
          <a:xfrm rot="0">
            <a:off x="9735899" y="7038544"/>
            <a:ext cx="2414911" cy="306705"/>
          </a:xfrm>
          <a:prstGeom prst="rect">
            <a:avLst/>
          </a:prstGeom>
        </p:spPr>
        <p:txBody>
          <a:bodyPr anchor="t" rtlCol="false" tIns="0" lIns="0" bIns="0" rIns="0">
            <a:spAutoFit/>
          </a:bodyPr>
          <a:lstStyle/>
          <a:p>
            <a:pPr algn="l">
              <a:lnSpc>
                <a:spcPts val="2519"/>
              </a:lnSpc>
              <a:spcBef>
                <a:spcPct val="0"/>
              </a:spcBef>
            </a:pPr>
            <a:r>
              <a:rPr lang="en-US" sz="1799">
                <a:solidFill>
                  <a:srgbClr val="000000"/>
                </a:solidFill>
                <a:latin typeface="Now"/>
                <a:ea typeface="Now"/>
                <a:cs typeface="Now"/>
                <a:sym typeface="Now"/>
              </a:rPr>
              <a:t>Scalability Issues</a:t>
            </a:r>
          </a:p>
        </p:txBody>
      </p:sp>
      <p:sp>
        <p:nvSpPr>
          <p:cNvPr name="TextBox 33" id="33"/>
          <p:cNvSpPr txBox="true"/>
          <p:nvPr/>
        </p:nvSpPr>
        <p:spPr>
          <a:xfrm rot="0">
            <a:off x="12190713" y="5373373"/>
            <a:ext cx="4429939" cy="549910"/>
          </a:xfrm>
          <a:prstGeom prst="rect">
            <a:avLst/>
          </a:prstGeom>
        </p:spPr>
        <p:txBody>
          <a:bodyPr anchor="t" rtlCol="false" tIns="0" lIns="0" bIns="0" rIns="0">
            <a:spAutoFit/>
          </a:bodyPr>
          <a:lstStyle/>
          <a:p>
            <a:pPr algn="l">
              <a:lnSpc>
                <a:spcPts val="2239"/>
              </a:lnSpc>
            </a:pPr>
            <a:r>
              <a:rPr lang="en-US" sz="1599">
                <a:solidFill>
                  <a:srgbClr val="737373"/>
                </a:solidFill>
                <a:latin typeface="Now"/>
                <a:ea typeface="Now"/>
                <a:cs typeface="Now"/>
                <a:sym typeface="Now"/>
              </a:rPr>
              <a:t>Attendance tracking and report generation require additional effort.</a:t>
            </a:r>
          </a:p>
        </p:txBody>
      </p:sp>
      <p:sp>
        <p:nvSpPr>
          <p:cNvPr name="TextBox 34" id="34"/>
          <p:cNvSpPr txBox="true"/>
          <p:nvPr/>
        </p:nvSpPr>
        <p:spPr>
          <a:xfrm rot="0">
            <a:off x="12190713" y="6927704"/>
            <a:ext cx="4429939" cy="549910"/>
          </a:xfrm>
          <a:prstGeom prst="rect">
            <a:avLst/>
          </a:prstGeom>
        </p:spPr>
        <p:txBody>
          <a:bodyPr anchor="t" rtlCol="false" tIns="0" lIns="0" bIns="0" rIns="0">
            <a:spAutoFit/>
          </a:bodyPr>
          <a:lstStyle/>
          <a:p>
            <a:pPr algn="l">
              <a:lnSpc>
                <a:spcPts val="2239"/>
              </a:lnSpc>
            </a:pPr>
            <a:r>
              <a:rPr lang="en-US" sz="1599">
                <a:solidFill>
                  <a:srgbClr val="737373"/>
                </a:solidFill>
                <a:latin typeface="Now"/>
                <a:ea typeface="Now"/>
                <a:cs typeface="Now"/>
                <a:sym typeface="Now"/>
              </a:rPr>
              <a:t>Managing attendance in large classrooms becomes challenging.</a:t>
            </a:r>
          </a:p>
        </p:txBody>
      </p:sp>
      <p:sp>
        <p:nvSpPr>
          <p:cNvPr name="TextBox 35" id="35"/>
          <p:cNvSpPr txBox="true"/>
          <p:nvPr/>
        </p:nvSpPr>
        <p:spPr>
          <a:xfrm rot="0">
            <a:off x="2304320" y="5095875"/>
            <a:ext cx="3854651" cy="349250"/>
          </a:xfrm>
          <a:prstGeom prst="rect">
            <a:avLst/>
          </a:prstGeom>
        </p:spPr>
        <p:txBody>
          <a:bodyPr anchor="t" rtlCol="false" tIns="0" lIns="0" bIns="0" rIns="0">
            <a:spAutoFit/>
          </a:bodyPr>
          <a:lstStyle/>
          <a:p>
            <a:pPr algn="l">
              <a:lnSpc>
                <a:spcPts val="2799"/>
              </a:lnSpc>
              <a:spcBef>
                <a:spcPct val="0"/>
              </a:spcBef>
            </a:pPr>
            <a:r>
              <a:rPr lang="en-US" sz="1999">
                <a:solidFill>
                  <a:srgbClr val="000000"/>
                </a:solidFill>
                <a:latin typeface="Now"/>
                <a:ea typeface="Now"/>
                <a:cs typeface="Now"/>
                <a:sym typeface="Now"/>
              </a:rPr>
              <a:t>Need For A Smart Solution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DEDFDA"/>
        </a:solidFill>
      </p:bgPr>
    </p:bg>
    <p:spTree>
      <p:nvGrpSpPr>
        <p:cNvPr id="1" name=""/>
        <p:cNvGrpSpPr/>
        <p:nvPr/>
      </p:nvGrpSpPr>
      <p:grpSpPr>
        <a:xfrm>
          <a:off x="0" y="0"/>
          <a:ext cx="0" cy="0"/>
          <a:chOff x="0" y="0"/>
          <a:chExt cx="0" cy="0"/>
        </a:xfrm>
      </p:grpSpPr>
      <p:sp>
        <p:nvSpPr>
          <p:cNvPr name="AutoShape 2" id="2"/>
          <p:cNvSpPr/>
          <p:nvPr/>
        </p:nvSpPr>
        <p:spPr>
          <a:xfrm flipH="true">
            <a:off x="9050152" y="-264186"/>
            <a:ext cx="0" cy="10734089"/>
          </a:xfrm>
          <a:prstGeom prst="line">
            <a:avLst/>
          </a:prstGeom>
          <a:ln cap="flat" w="9525">
            <a:solidFill>
              <a:srgbClr val="000000"/>
            </a:solidFill>
            <a:prstDash val="solid"/>
            <a:headEnd type="none" len="sm" w="sm"/>
            <a:tailEnd type="none" len="sm" w="sm"/>
          </a:ln>
        </p:spPr>
      </p:sp>
      <p:sp>
        <p:nvSpPr>
          <p:cNvPr name="Freeform 3" id="3"/>
          <p:cNvSpPr/>
          <p:nvPr/>
        </p:nvSpPr>
        <p:spPr>
          <a:xfrm flipH="false" flipV="false" rot="2700000">
            <a:off x="17403571" y="9455408"/>
            <a:ext cx="250141" cy="250141"/>
          </a:xfrm>
          <a:custGeom>
            <a:avLst/>
            <a:gdLst/>
            <a:ahLst/>
            <a:cxnLst/>
            <a:rect r="r" b="b" t="t" l="l"/>
            <a:pathLst>
              <a:path h="250141" w="250141">
                <a:moveTo>
                  <a:pt x="0" y="0"/>
                </a:moveTo>
                <a:lnTo>
                  <a:pt x="250141" y="0"/>
                </a:lnTo>
                <a:lnTo>
                  <a:pt x="250141" y="250142"/>
                </a:lnTo>
                <a:lnTo>
                  <a:pt x="0" y="2501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9657390" y="756670"/>
            <a:ext cx="450210" cy="561270"/>
          </a:xfrm>
          <a:custGeom>
            <a:avLst/>
            <a:gdLst/>
            <a:ahLst/>
            <a:cxnLst/>
            <a:rect r="r" b="b" t="t" l="l"/>
            <a:pathLst>
              <a:path h="561270" w="450210">
                <a:moveTo>
                  <a:pt x="0" y="0"/>
                </a:moveTo>
                <a:lnTo>
                  <a:pt x="450210" y="0"/>
                </a:lnTo>
                <a:lnTo>
                  <a:pt x="450210" y="561270"/>
                </a:lnTo>
                <a:lnTo>
                  <a:pt x="0" y="5612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9657390" y="1663152"/>
            <a:ext cx="450210" cy="561270"/>
          </a:xfrm>
          <a:custGeom>
            <a:avLst/>
            <a:gdLst/>
            <a:ahLst/>
            <a:cxnLst/>
            <a:rect r="r" b="b" t="t" l="l"/>
            <a:pathLst>
              <a:path h="561270" w="450210">
                <a:moveTo>
                  <a:pt x="0" y="0"/>
                </a:moveTo>
                <a:lnTo>
                  <a:pt x="450210" y="0"/>
                </a:lnTo>
                <a:lnTo>
                  <a:pt x="450210" y="561270"/>
                </a:lnTo>
                <a:lnTo>
                  <a:pt x="0" y="5612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9657390" y="2567322"/>
            <a:ext cx="450210" cy="561270"/>
          </a:xfrm>
          <a:custGeom>
            <a:avLst/>
            <a:gdLst/>
            <a:ahLst/>
            <a:cxnLst/>
            <a:rect r="r" b="b" t="t" l="l"/>
            <a:pathLst>
              <a:path h="561270" w="450210">
                <a:moveTo>
                  <a:pt x="0" y="0"/>
                </a:moveTo>
                <a:lnTo>
                  <a:pt x="450210" y="0"/>
                </a:lnTo>
                <a:lnTo>
                  <a:pt x="450210" y="561271"/>
                </a:lnTo>
                <a:lnTo>
                  <a:pt x="0" y="5612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9657390" y="3471493"/>
            <a:ext cx="450210" cy="561270"/>
          </a:xfrm>
          <a:custGeom>
            <a:avLst/>
            <a:gdLst/>
            <a:ahLst/>
            <a:cxnLst/>
            <a:rect r="r" b="b" t="t" l="l"/>
            <a:pathLst>
              <a:path h="561270" w="450210">
                <a:moveTo>
                  <a:pt x="0" y="0"/>
                </a:moveTo>
                <a:lnTo>
                  <a:pt x="450210" y="0"/>
                </a:lnTo>
                <a:lnTo>
                  <a:pt x="450210" y="561270"/>
                </a:lnTo>
                <a:lnTo>
                  <a:pt x="0" y="5612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9657390" y="4375663"/>
            <a:ext cx="450210" cy="561270"/>
          </a:xfrm>
          <a:custGeom>
            <a:avLst/>
            <a:gdLst/>
            <a:ahLst/>
            <a:cxnLst/>
            <a:rect r="r" b="b" t="t" l="l"/>
            <a:pathLst>
              <a:path h="561270" w="450210">
                <a:moveTo>
                  <a:pt x="0" y="0"/>
                </a:moveTo>
                <a:lnTo>
                  <a:pt x="450210" y="0"/>
                </a:lnTo>
                <a:lnTo>
                  <a:pt x="450210" y="561270"/>
                </a:lnTo>
                <a:lnTo>
                  <a:pt x="0" y="5612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9657390" y="5279833"/>
            <a:ext cx="450210" cy="561270"/>
          </a:xfrm>
          <a:custGeom>
            <a:avLst/>
            <a:gdLst/>
            <a:ahLst/>
            <a:cxnLst/>
            <a:rect r="r" b="b" t="t" l="l"/>
            <a:pathLst>
              <a:path h="561270" w="450210">
                <a:moveTo>
                  <a:pt x="0" y="0"/>
                </a:moveTo>
                <a:lnTo>
                  <a:pt x="450210" y="0"/>
                </a:lnTo>
                <a:lnTo>
                  <a:pt x="450210" y="561270"/>
                </a:lnTo>
                <a:lnTo>
                  <a:pt x="0" y="5612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9657390" y="6280990"/>
            <a:ext cx="450210" cy="561270"/>
          </a:xfrm>
          <a:custGeom>
            <a:avLst/>
            <a:gdLst/>
            <a:ahLst/>
            <a:cxnLst/>
            <a:rect r="r" b="b" t="t" l="l"/>
            <a:pathLst>
              <a:path h="561270" w="450210">
                <a:moveTo>
                  <a:pt x="0" y="0"/>
                </a:moveTo>
                <a:lnTo>
                  <a:pt x="450210" y="0"/>
                </a:lnTo>
                <a:lnTo>
                  <a:pt x="450210" y="561270"/>
                </a:lnTo>
                <a:lnTo>
                  <a:pt x="0" y="5612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1" id="11"/>
          <p:cNvSpPr txBox="true"/>
          <p:nvPr/>
        </p:nvSpPr>
        <p:spPr>
          <a:xfrm rot="0">
            <a:off x="2016677" y="1800912"/>
            <a:ext cx="5589899" cy="2456815"/>
          </a:xfrm>
          <a:prstGeom prst="rect">
            <a:avLst/>
          </a:prstGeom>
        </p:spPr>
        <p:txBody>
          <a:bodyPr anchor="t" rtlCol="false" tIns="0" lIns="0" bIns="0" rIns="0">
            <a:spAutoFit/>
          </a:bodyPr>
          <a:lstStyle/>
          <a:p>
            <a:pPr algn="l">
              <a:lnSpc>
                <a:spcPts val="9799"/>
              </a:lnSpc>
            </a:pPr>
            <a:r>
              <a:rPr lang="en-US" sz="6999" b="true">
                <a:solidFill>
                  <a:srgbClr val="595858"/>
                </a:solidFill>
                <a:latin typeface="Now Bold"/>
                <a:ea typeface="Now Bold"/>
                <a:cs typeface="Now Bold"/>
                <a:sym typeface="Now Bold"/>
              </a:rPr>
              <a:t>Proposed Solution</a:t>
            </a:r>
          </a:p>
        </p:txBody>
      </p:sp>
      <p:sp>
        <p:nvSpPr>
          <p:cNvPr name="TextBox 12" id="12"/>
          <p:cNvSpPr txBox="true"/>
          <p:nvPr/>
        </p:nvSpPr>
        <p:spPr>
          <a:xfrm rot="0">
            <a:off x="2016677" y="6242890"/>
            <a:ext cx="4429939" cy="1102360"/>
          </a:xfrm>
          <a:prstGeom prst="rect">
            <a:avLst/>
          </a:prstGeom>
        </p:spPr>
        <p:txBody>
          <a:bodyPr anchor="t" rtlCol="false" tIns="0" lIns="0" bIns="0" rIns="0">
            <a:spAutoFit/>
          </a:bodyPr>
          <a:lstStyle/>
          <a:p>
            <a:pPr algn="l">
              <a:lnSpc>
                <a:spcPts val="2239"/>
              </a:lnSpc>
            </a:pPr>
            <a:r>
              <a:rPr lang="en-US" sz="1599">
                <a:solidFill>
                  <a:srgbClr val="737373"/>
                </a:solidFill>
                <a:latin typeface="Now"/>
                <a:ea typeface="Now"/>
                <a:cs typeface="Now"/>
                <a:sym typeface="Now"/>
              </a:rPr>
              <a:t>Nexora Smart Attendance AI is an AI-powered attendance management system designed to automate attendance tracking through facial recognition technology.</a:t>
            </a:r>
          </a:p>
        </p:txBody>
      </p:sp>
      <p:sp>
        <p:nvSpPr>
          <p:cNvPr name="TextBox 13" id="13"/>
          <p:cNvSpPr txBox="true"/>
          <p:nvPr/>
        </p:nvSpPr>
        <p:spPr>
          <a:xfrm rot="0">
            <a:off x="17397857" y="482985"/>
            <a:ext cx="264200" cy="273685"/>
          </a:xfrm>
          <a:prstGeom prst="rect">
            <a:avLst/>
          </a:prstGeom>
        </p:spPr>
        <p:txBody>
          <a:bodyPr anchor="t" rtlCol="false" tIns="0" lIns="0" bIns="0" rIns="0">
            <a:spAutoFit/>
          </a:bodyPr>
          <a:lstStyle/>
          <a:p>
            <a:pPr algn="r">
              <a:lnSpc>
                <a:spcPts val="2239"/>
              </a:lnSpc>
            </a:pPr>
            <a:r>
              <a:rPr lang="en-US" sz="1599" b="true">
                <a:solidFill>
                  <a:srgbClr val="737373"/>
                </a:solidFill>
                <a:latin typeface="Now Bold"/>
                <a:ea typeface="Now Bold"/>
                <a:cs typeface="Now Bold"/>
                <a:sym typeface="Now Bold"/>
              </a:rPr>
              <a:t>03</a:t>
            </a:r>
          </a:p>
        </p:txBody>
      </p:sp>
      <p:sp>
        <p:nvSpPr>
          <p:cNvPr name="TextBox 14" id="14"/>
          <p:cNvSpPr txBox="true"/>
          <p:nvPr/>
        </p:nvSpPr>
        <p:spPr>
          <a:xfrm rot="0">
            <a:off x="2016677" y="4880931"/>
            <a:ext cx="5927236" cy="994411"/>
          </a:xfrm>
          <a:prstGeom prst="rect">
            <a:avLst/>
          </a:prstGeom>
        </p:spPr>
        <p:txBody>
          <a:bodyPr anchor="t" rtlCol="false" tIns="0" lIns="0" bIns="0" rIns="0">
            <a:spAutoFit/>
          </a:bodyPr>
          <a:lstStyle/>
          <a:p>
            <a:pPr algn="l">
              <a:lnSpc>
                <a:spcPts val="4619"/>
              </a:lnSpc>
            </a:pPr>
            <a:r>
              <a:rPr lang="en-US" sz="3299">
                <a:solidFill>
                  <a:srgbClr val="595858"/>
                </a:solidFill>
                <a:latin typeface="Rowdies"/>
                <a:ea typeface="Rowdies"/>
                <a:cs typeface="Rowdies"/>
                <a:sym typeface="Rowdies"/>
              </a:rPr>
              <a:t>Nexora Smart Attendance AI</a:t>
            </a:r>
          </a:p>
          <a:p>
            <a:pPr algn="l">
              <a:lnSpc>
                <a:spcPts val="3359"/>
              </a:lnSpc>
              <a:spcBef>
                <a:spcPct val="0"/>
              </a:spcBef>
            </a:pPr>
          </a:p>
        </p:txBody>
      </p:sp>
      <p:sp>
        <p:nvSpPr>
          <p:cNvPr name="TextBox 15" id="15"/>
          <p:cNvSpPr txBox="true"/>
          <p:nvPr/>
        </p:nvSpPr>
        <p:spPr>
          <a:xfrm rot="0">
            <a:off x="2016677" y="5601656"/>
            <a:ext cx="3125748" cy="273685"/>
          </a:xfrm>
          <a:prstGeom prst="rect">
            <a:avLst/>
          </a:prstGeom>
        </p:spPr>
        <p:txBody>
          <a:bodyPr anchor="t" rtlCol="false" tIns="0" lIns="0" bIns="0" rIns="0">
            <a:spAutoFit/>
          </a:bodyPr>
          <a:lstStyle/>
          <a:p>
            <a:pPr algn="l">
              <a:lnSpc>
                <a:spcPts val="2239"/>
              </a:lnSpc>
              <a:spcBef>
                <a:spcPct val="0"/>
              </a:spcBef>
            </a:pPr>
            <a:r>
              <a:rPr lang="en-US" sz="1599">
                <a:solidFill>
                  <a:srgbClr val="000000"/>
                </a:solidFill>
                <a:latin typeface="Now"/>
                <a:ea typeface="Now"/>
                <a:cs typeface="Now"/>
                <a:sym typeface="Now"/>
              </a:rPr>
              <a:t>Smarter Presence Management</a:t>
            </a:r>
          </a:p>
        </p:txBody>
      </p:sp>
      <p:sp>
        <p:nvSpPr>
          <p:cNvPr name="TextBox 16" id="16"/>
          <p:cNvSpPr txBox="true"/>
          <p:nvPr/>
        </p:nvSpPr>
        <p:spPr>
          <a:xfrm rot="0">
            <a:off x="10416202" y="881413"/>
            <a:ext cx="3253500" cy="306705"/>
          </a:xfrm>
          <a:prstGeom prst="rect">
            <a:avLst/>
          </a:prstGeom>
        </p:spPr>
        <p:txBody>
          <a:bodyPr anchor="t" rtlCol="false" tIns="0" lIns="0" bIns="0" rIns="0">
            <a:spAutoFit/>
          </a:bodyPr>
          <a:lstStyle/>
          <a:p>
            <a:pPr algn="l">
              <a:lnSpc>
                <a:spcPts val="2519"/>
              </a:lnSpc>
              <a:spcBef>
                <a:spcPct val="0"/>
              </a:spcBef>
            </a:pPr>
            <a:r>
              <a:rPr lang="en-US" sz="1799">
                <a:solidFill>
                  <a:srgbClr val="000000"/>
                </a:solidFill>
                <a:latin typeface="TT Drugs"/>
                <a:ea typeface="TT Drugs"/>
                <a:cs typeface="TT Drugs"/>
                <a:sym typeface="TT Drugs"/>
              </a:rPr>
              <a:t>Secure User Authentication</a:t>
            </a:r>
          </a:p>
        </p:txBody>
      </p:sp>
      <p:sp>
        <p:nvSpPr>
          <p:cNvPr name="TextBox 17" id="17"/>
          <p:cNvSpPr txBox="true"/>
          <p:nvPr/>
        </p:nvSpPr>
        <p:spPr>
          <a:xfrm rot="0">
            <a:off x="10416202" y="1771385"/>
            <a:ext cx="3253500" cy="621030"/>
          </a:xfrm>
          <a:prstGeom prst="rect">
            <a:avLst/>
          </a:prstGeom>
        </p:spPr>
        <p:txBody>
          <a:bodyPr anchor="t" rtlCol="false" tIns="0" lIns="0" bIns="0" rIns="0">
            <a:spAutoFit/>
          </a:bodyPr>
          <a:lstStyle/>
          <a:p>
            <a:pPr algn="l">
              <a:lnSpc>
                <a:spcPts val="2519"/>
              </a:lnSpc>
            </a:pPr>
            <a:r>
              <a:rPr lang="en-US" sz="1799">
                <a:solidFill>
                  <a:srgbClr val="000000"/>
                </a:solidFill>
                <a:latin typeface="TT Drugs"/>
                <a:ea typeface="TT Drugs"/>
                <a:cs typeface="TT Drugs"/>
                <a:sym typeface="TT Drugs"/>
              </a:rPr>
              <a:t>Student Enrollment System</a:t>
            </a:r>
          </a:p>
          <a:p>
            <a:pPr algn="l">
              <a:lnSpc>
                <a:spcPts val="2519"/>
              </a:lnSpc>
              <a:spcBef>
                <a:spcPct val="0"/>
              </a:spcBef>
            </a:pPr>
          </a:p>
        </p:txBody>
      </p:sp>
      <p:sp>
        <p:nvSpPr>
          <p:cNvPr name="TextBox 18" id="18"/>
          <p:cNvSpPr txBox="true"/>
          <p:nvPr/>
        </p:nvSpPr>
        <p:spPr>
          <a:xfrm rot="0">
            <a:off x="10416202" y="2661357"/>
            <a:ext cx="3253500" cy="621030"/>
          </a:xfrm>
          <a:prstGeom prst="rect">
            <a:avLst/>
          </a:prstGeom>
        </p:spPr>
        <p:txBody>
          <a:bodyPr anchor="t" rtlCol="false" tIns="0" lIns="0" bIns="0" rIns="0">
            <a:spAutoFit/>
          </a:bodyPr>
          <a:lstStyle/>
          <a:p>
            <a:pPr algn="l">
              <a:lnSpc>
                <a:spcPts val="2519"/>
              </a:lnSpc>
            </a:pPr>
            <a:r>
              <a:rPr lang="en-US" sz="1799">
                <a:solidFill>
                  <a:srgbClr val="000000"/>
                </a:solidFill>
                <a:latin typeface="TT Drugs"/>
                <a:ea typeface="TT Drugs"/>
                <a:cs typeface="TT Drugs"/>
                <a:sym typeface="TT Drugs"/>
              </a:rPr>
              <a:t>Face Registration Module</a:t>
            </a:r>
          </a:p>
          <a:p>
            <a:pPr algn="l">
              <a:lnSpc>
                <a:spcPts val="2519"/>
              </a:lnSpc>
              <a:spcBef>
                <a:spcPct val="0"/>
              </a:spcBef>
            </a:pPr>
          </a:p>
        </p:txBody>
      </p:sp>
      <p:sp>
        <p:nvSpPr>
          <p:cNvPr name="TextBox 19" id="19"/>
          <p:cNvSpPr txBox="true"/>
          <p:nvPr/>
        </p:nvSpPr>
        <p:spPr>
          <a:xfrm rot="0">
            <a:off x="10416202" y="3551329"/>
            <a:ext cx="3253500" cy="621030"/>
          </a:xfrm>
          <a:prstGeom prst="rect">
            <a:avLst/>
          </a:prstGeom>
        </p:spPr>
        <p:txBody>
          <a:bodyPr anchor="t" rtlCol="false" tIns="0" lIns="0" bIns="0" rIns="0">
            <a:spAutoFit/>
          </a:bodyPr>
          <a:lstStyle/>
          <a:p>
            <a:pPr algn="l">
              <a:lnSpc>
                <a:spcPts val="2519"/>
              </a:lnSpc>
            </a:pPr>
            <a:r>
              <a:rPr lang="en-US" sz="1799">
                <a:solidFill>
                  <a:srgbClr val="000000"/>
                </a:solidFill>
                <a:latin typeface="TT Drugs"/>
                <a:ea typeface="TT Drugs"/>
                <a:cs typeface="TT Drugs"/>
                <a:sym typeface="TT Drugs"/>
              </a:rPr>
              <a:t> AI-Based Face Detection</a:t>
            </a:r>
          </a:p>
          <a:p>
            <a:pPr algn="l">
              <a:lnSpc>
                <a:spcPts val="2519"/>
              </a:lnSpc>
              <a:spcBef>
                <a:spcPct val="0"/>
              </a:spcBef>
            </a:pPr>
          </a:p>
        </p:txBody>
      </p:sp>
      <p:sp>
        <p:nvSpPr>
          <p:cNvPr name="TextBox 20" id="20"/>
          <p:cNvSpPr txBox="true"/>
          <p:nvPr/>
        </p:nvSpPr>
        <p:spPr>
          <a:xfrm rot="0">
            <a:off x="10416202" y="4439059"/>
            <a:ext cx="3814320" cy="621030"/>
          </a:xfrm>
          <a:prstGeom prst="rect">
            <a:avLst/>
          </a:prstGeom>
        </p:spPr>
        <p:txBody>
          <a:bodyPr anchor="t" rtlCol="false" tIns="0" lIns="0" bIns="0" rIns="0">
            <a:spAutoFit/>
          </a:bodyPr>
          <a:lstStyle/>
          <a:p>
            <a:pPr algn="l">
              <a:lnSpc>
                <a:spcPts val="2519"/>
              </a:lnSpc>
            </a:pPr>
            <a:r>
              <a:rPr lang="en-US" sz="1799">
                <a:solidFill>
                  <a:srgbClr val="000000"/>
                </a:solidFill>
                <a:latin typeface="TT Drugs"/>
                <a:ea typeface="TT Drugs"/>
                <a:cs typeface="TT Drugs"/>
                <a:sym typeface="TT Drugs"/>
              </a:rPr>
              <a:t>Automated Attendance Recording</a:t>
            </a:r>
          </a:p>
          <a:p>
            <a:pPr algn="l">
              <a:lnSpc>
                <a:spcPts val="2519"/>
              </a:lnSpc>
              <a:spcBef>
                <a:spcPct val="0"/>
              </a:spcBef>
            </a:pPr>
          </a:p>
        </p:txBody>
      </p:sp>
      <p:sp>
        <p:nvSpPr>
          <p:cNvPr name="TextBox 21" id="21"/>
          <p:cNvSpPr txBox="true"/>
          <p:nvPr/>
        </p:nvSpPr>
        <p:spPr>
          <a:xfrm rot="0">
            <a:off x="10416202" y="5331273"/>
            <a:ext cx="3253500" cy="621030"/>
          </a:xfrm>
          <a:prstGeom prst="rect">
            <a:avLst/>
          </a:prstGeom>
        </p:spPr>
        <p:txBody>
          <a:bodyPr anchor="t" rtlCol="false" tIns="0" lIns="0" bIns="0" rIns="0">
            <a:spAutoFit/>
          </a:bodyPr>
          <a:lstStyle/>
          <a:p>
            <a:pPr algn="l">
              <a:lnSpc>
                <a:spcPts val="2519"/>
              </a:lnSpc>
            </a:pPr>
            <a:r>
              <a:rPr lang="en-US" sz="1799">
                <a:solidFill>
                  <a:srgbClr val="000000"/>
                </a:solidFill>
                <a:latin typeface="TT Drugs"/>
                <a:ea typeface="TT Drugs"/>
                <a:cs typeface="TT Drugs"/>
                <a:sym typeface="TT Drugs"/>
              </a:rPr>
              <a:t> Teacher Dashboard</a:t>
            </a:r>
          </a:p>
          <a:p>
            <a:pPr algn="l">
              <a:lnSpc>
                <a:spcPts val="2519"/>
              </a:lnSpc>
              <a:spcBef>
                <a:spcPct val="0"/>
              </a:spcBef>
            </a:pPr>
          </a:p>
        </p:txBody>
      </p:sp>
      <p:sp>
        <p:nvSpPr>
          <p:cNvPr name="TextBox 22" id="22"/>
          <p:cNvSpPr txBox="true"/>
          <p:nvPr/>
        </p:nvSpPr>
        <p:spPr>
          <a:xfrm rot="0">
            <a:off x="10416202" y="6375140"/>
            <a:ext cx="3814320" cy="621030"/>
          </a:xfrm>
          <a:prstGeom prst="rect">
            <a:avLst/>
          </a:prstGeom>
        </p:spPr>
        <p:txBody>
          <a:bodyPr anchor="t" rtlCol="false" tIns="0" lIns="0" bIns="0" rIns="0">
            <a:spAutoFit/>
          </a:bodyPr>
          <a:lstStyle/>
          <a:p>
            <a:pPr algn="l">
              <a:lnSpc>
                <a:spcPts val="2519"/>
              </a:lnSpc>
            </a:pPr>
            <a:r>
              <a:rPr lang="en-US" sz="1799">
                <a:solidFill>
                  <a:srgbClr val="000000"/>
                </a:solidFill>
                <a:latin typeface="TT Drugs"/>
                <a:ea typeface="TT Drugs"/>
                <a:cs typeface="TT Drugs"/>
                <a:sym typeface="TT Drugs"/>
              </a:rPr>
              <a:t>Attendance Reports &amp; Analytics</a:t>
            </a:r>
          </a:p>
          <a:p>
            <a:pPr algn="l">
              <a:lnSpc>
                <a:spcPts val="2519"/>
              </a:lnSpc>
              <a:spcBef>
                <a:spcPct val="0"/>
              </a:spcBef>
            </a:pPr>
          </a:p>
        </p:txBody>
      </p:sp>
      <p:sp>
        <p:nvSpPr>
          <p:cNvPr name="TextBox 23" id="23"/>
          <p:cNvSpPr txBox="true"/>
          <p:nvPr/>
        </p:nvSpPr>
        <p:spPr>
          <a:xfrm rot="0">
            <a:off x="9657390" y="178185"/>
            <a:ext cx="1517571" cy="323215"/>
          </a:xfrm>
          <a:prstGeom prst="rect">
            <a:avLst/>
          </a:prstGeom>
        </p:spPr>
        <p:txBody>
          <a:bodyPr anchor="t" rtlCol="false" tIns="0" lIns="0" bIns="0" rIns="0">
            <a:spAutoFit/>
          </a:bodyPr>
          <a:lstStyle/>
          <a:p>
            <a:pPr algn="l">
              <a:lnSpc>
                <a:spcPts val="2659"/>
              </a:lnSpc>
              <a:spcBef>
                <a:spcPct val="0"/>
              </a:spcBef>
            </a:pPr>
            <a:r>
              <a:rPr lang="en-US" sz="1899">
                <a:solidFill>
                  <a:srgbClr val="242223"/>
                </a:solidFill>
                <a:latin typeface="Rowdies"/>
                <a:ea typeface="Rowdies"/>
                <a:cs typeface="Rowdies"/>
                <a:sym typeface="Rowdies"/>
              </a:rPr>
              <a:t>Key Features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0" t="0" r="0" b="0"/>
            </a:stretch>
          </a:blipFill>
        </p:spPr>
      </p:sp>
      <p:sp>
        <p:nvSpPr>
          <p:cNvPr name="AutoShape 3" id="3"/>
          <p:cNvSpPr/>
          <p:nvPr/>
        </p:nvSpPr>
        <p:spPr>
          <a:xfrm>
            <a:off x="16843213" y="-264186"/>
            <a:ext cx="0" cy="10734089"/>
          </a:xfrm>
          <a:prstGeom prst="line">
            <a:avLst/>
          </a:prstGeom>
          <a:ln cap="flat" w="9525">
            <a:solidFill>
              <a:srgbClr val="000000"/>
            </a:solidFill>
            <a:prstDash val="solid"/>
            <a:headEnd type="none" len="sm" w="sm"/>
            <a:tailEnd type="none" len="sm" w="sm"/>
          </a:ln>
        </p:spPr>
      </p:sp>
      <p:sp>
        <p:nvSpPr>
          <p:cNvPr name="Freeform 4" id="4"/>
          <p:cNvSpPr/>
          <p:nvPr/>
        </p:nvSpPr>
        <p:spPr>
          <a:xfrm flipH="false" flipV="false" rot="2700000">
            <a:off x="17403571" y="9455408"/>
            <a:ext cx="250141" cy="250141"/>
          </a:xfrm>
          <a:custGeom>
            <a:avLst/>
            <a:gdLst/>
            <a:ahLst/>
            <a:cxnLst/>
            <a:rect r="r" b="b" t="t" l="l"/>
            <a:pathLst>
              <a:path h="250141" w="250141">
                <a:moveTo>
                  <a:pt x="0" y="0"/>
                </a:moveTo>
                <a:lnTo>
                  <a:pt x="250141" y="0"/>
                </a:lnTo>
                <a:lnTo>
                  <a:pt x="250141" y="250142"/>
                </a:lnTo>
                <a:lnTo>
                  <a:pt x="0" y="25014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674323" y="3082070"/>
            <a:ext cx="14035271" cy="4122861"/>
          </a:xfrm>
          <a:custGeom>
            <a:avLst/>
            <a:gdLst/>
            <a:ahLst/>
            <a:cxnLst/>
            <a:rect r="r" b="b" t="t" l="l"/>
            <a:pathLst>
              <a:path h="4122861" w="14035271">
                <a:moveTo>
                  <a:pt x="0" y="0"/>
                </a:moveTo>
                <a:lnTo>
                  <a:pt x="14035271" y="0"/>
                </a:lnTo>
                <a:lnTo>
                  <a:pt x="14035271" y="4122860"/>
                </a:lnTo>
                <a:lnTo>
                  <a:pt x="0" y="4122860"/>
                </a:lnTo>
                <a:lnTo>
                  <a:pt x="0" y="0"/>
                </a:lnTo>
                <a:close/>
              </a:path>
            </a:pathLst>
          </a:custGeom>
          <a:blipFill>
            <a:blip r:embed="rId5"/>
            <a:stretch>
              <a:fillRect l="0" t="0" r="0" b="0"/>
            </a:stretch>
          </a:blipFill>
        </p:spPr>
      </p:sp>
      <p:sp>
        <p:nvSpPr>
          <p:cNvPr name="TextBox 6" id="6"/>
          <p:cNvSpPr txBox="true"/>
          <p:nvPr/>
        </p:nvSpPr>
        <p:spPr>
          <a:xfrm rot="0">
            <a:off x="227185" y="496003"/>
            <a:ext cx="9893112" cy="1210945"/>
          </a:xfrm>
          <a:prstGeom prst="rect">
            <a:avLst/>
          </a:prstGeom>
        </p:spPr>
        <p:txBody>
          <a:bodyPr anchor="t" rtlCol="false" tIns="0" lIns="0" bIns="0" rIns="0">
            <a:spAutoFit/>
          </a:bodyPr>
          <a:lstStyle/>
          <a:p>
            <a:pPr algn="ctr">
              <a:lnSpc>
                <a:spcPts val="9799"/>
              </a:lnSpc>
            </a:pPr>
            <a:r>
              <a:rPr lang="en-US" sz="6999" b="true">
                <a:solidFill>
                  <a:srgbClr val="595858"/>
                </a:solidFill>
                <a:latin typeface="Now Bold"/>
                <a:ea typeface="Now Bold"/>
                <a:cs typeface="Now Bold"/>
                <a:sym typeface="Now Bold"/>
              </a:rPr>
              <a:t>Technology Stack</a:t>
            </a:r>
          </a:p>
        </p:txBody>
      </p:sp>
      <p:sp>
        <p:nvSpPr>
          <p:cNvPr name="TextBox 7" id="7"/>
          <p:cNvSpPr txBox="true"/>
          <p:nvPr/>
        </p:nvSpPr>
        <p:spPr>
          <a:xfrm rot="0">
            <a:off x="17041474" y="482985"/>
            <a:ext cx="620583" cy="273685"/>
          </a:xfrm>
          <a:prstGeom prst="rect">
            <a:avLst/>
          </a:prstGeom>
        </p:spPr>
        <p:txBody>
          <a:bodyPr anchor="t" rtlCol="false" tIns="0" lIns="0" bIns="0" rIns="0">
            <a:spAutoFit/>
          </a:bodyPr>
          <a:lstStyle/>
          <a:p>
            <a:pPr algn="r">
              <a:lnSpc>
                <a:spcPts val="2239"/>
              </a:lnSpc>
            </a:pPr>
            <a:r>
              <a:rPr lang="en-US" sz="1599" b="true">
                <a:solidFill>
                  <a:srgbClr val="737373"/>
                </a:solidFill>
                <a:latin typeface="Now Bold"/>
                <a:ea typeface="Now Bold"/>
                <a:cs typeface="Now Bold"/>
                <a:sym typeface="Now Bold"/>
              </a:rPr>
              <a:t>04</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0" t="0" r="0" b="0"/>
            </a:stretch>
          </a:blipFill>
        </p:spPr>
      </p:sp>
      <p:grpSp>
        <p:nvGrpSpPr>
          <p:cNvPr name="Group 3" id="3"/>
          <p:cNvGrpSpPr/>
          <p:nvPr/>
        </p:nvGrpSpPr>
        <p:grpSpPr>
          <a:xfrm rot="0">
            <a:off x="2584312" y="-158512"/>
            <a:ext cx="5589812" cy="10604023"/>
            <a:chOff x="0" y="0"/>
            <a:chExt cx="866008" cy="1642841"/>
          </a:xfrm>
        </p:grpSpPr>
        <p:sp>
          <p:nvSpPr>
            <p:cNvPr name="Freeform 4" id="4"/>
            <p:cNvSpPr/>
            <p:nvPr/>
          </p:nvSpPr>
          <p:spPr>
            <a:xfrm flipH="false" flipV="false" rot="0">
              <a:off x="0" y="0"/>
              <a:ext cx="866008" cy="1642841"/>
            </a:xfrm>
            <a:custGeom>
              <a:avLst/>
              <a:gdLst/>
              <a:ahLst/>
              <a:cxnLst/>
              <a:rect r="r" b="b" t="t" l="l"/>
              <a:pathLst>
                <a:path h="1642841" w="866008">
                  <a:moveTo>
                    <a:pt x="0" y="0"/>
                  </a:moveTo>
                  <a:lnTo>
                    <a:pt x="866008" y="0"/>
                  </a:lnTo>
                  <a:lnTo>
                    <a:pt x="866008" y="1642841"/>
                  </a:lnTo>
                  <a:lnTo>
                    <a:pt x="0" y="1642841"/>
                  </a:lnTo>
                  <a:close/>
                </a:path>
              </a:pathLst>
            </a:custGeom>
            <a:blipFill>
              <a:blip r:embed="rId3"/>
              <a:stretch>
                <a:fillRect l="0" t="-3747" r="0" b="-3747"/>
              </a:stretch>
            </a:blipFill>
            <a:ln w="19050" cap="sq">
              <a:solidFill>
                <a:srgbClr val="000000"/>
              </a:solidFill>
              <a:prstDash val="solid"/>
              <a:miter/>
            </a:ln>
          </p:spPr>
        </p:sp>
      </p:grpSp>
      <p:sp>
        <p:nvSpPr>
          <p:cNvPr name="Freeform 5" id="5"/>
          <p:cNvSpPr/>
          <p:nvPr/>
        </p:nvSpPr>
        <p:spPr>
          <a:xfrm flipH="false" flipV="false" rot="2700000">
            <a:off x="17403571" y="9455408"/>
            <a:ext cx="250141" cy="250141"/>
          </a:xfrm>
          <a:custGeom>
            <a:avLst/>
            <a:gdLst/>
            <a:ahLst/>
            <a:cxnLst/>
            <a:rect r="r" b="b" t="t" l="l"/>
            <a:pathLst>
              <a:path h="250141" w="250141">
                <a:moveTo>
                  <a:pt x="0" y="0"/>
                </a:moveTo>
                <a:lnTo>
                  <a:pt x="250141" y="0"/>
                </a:lnTo>
                <a:lnTo>
                  <a:pt x="250141" y="250142"/>
                </a:lnTo>
                <a:lnTo>
                  <a:pt x="0" y="25014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6" id="6"/>
          <p:cNvSpPr/>
          <p:nvPr/>
        </p:nvSpPr>
        <p:spPr>
          <a:xfrm>
            <a:off x="16843213" y="-264186"/>
            <a:ext cx="0" cy="10734089"/>
          </a:xfrm>
          <a:prstGeom prst="line">
            <a:avLst/>
          </a:prstGeom>
          <a:ln cap="flat" w="9525">
            <a:solidFill>
              <a:srgbClr val="000000"/>
            </a:solidFill>
            <a:prstDash val="solid"/>
            <a:headEnd type="none" len="sm" w="sm"/>
            <a:tailEnd type="none" len="sm" w="sm"/>
          </a:ln>
        </p:spPr>
      </p:sp>
      <p:sp>
        <p:nvSpPr>
          <p:cNvPr name="TextBox 7" id="7"/>
          <p:cNvSpPr txBox="true"/>
          <p:nvPr/>
        </p:nvSpPr>
        <p:spPr>
          <a:xfrm rot="0">
            <a:off x="9744116" y="1906587"/>
            <a:ext cx="5008690" cy="1210945"/>
          </a:xfrm>
          <a:prstGeom prst="rect">
            <a:avLst/>
          </a:prstGeom>
        </p:spPr>
        <p:txBody>
          <a:bodyPr anchor="t" rtlCol="false" tIns="0" lIns="0" bIns="0" rIns="0">
            <a:spAutoFit/>
          </a:bodyPr>
          <a:lstStyle/>
          <a:p>
            <a:pPr algn="l">
              <a:lnSpc>
                <a:spcPts val="9799"/>
              </a:lnSpc>
            </a:pPr>
            <a:r>
              <a:rPr lang="en-US" sz="6999" b="true">
                <a:solidFill>
                  <a:srgbClr val="595858"/>
                </a:solidFill>
                <a:latin typeface="Now Bold"/>
                <a:ea typeface="Now Bold"/>
                <a:cs typeface="Now Bold"/>
                <a:sym typeface="Now Bold"/>
              </a:rPr>
              <a:t>Login</a:t>
            </a:r>
          </a:p>
        </p:txBody>
      </p:sp>
      <p:sp>
        <p:nvSpPr>
          <p:cNvPr name="TextBox 8" id="8"/>
          <p:cNvSpPr txBox="true"/>
          <p:nvPr/>
        </p:nvSpPr>
        <p:spPr>
          <a:xfrm rot="0">
            <a:off x="9744116" y="3515823"/>
            <a:ext cx="5460264" cy="6074410"/>
          </a:xfrm>
          <a:prstGeom prst="rect">
            <a:avLst/>
          </a:prstGeom>
        </p:spPr>
        <p:txBody>
          <a:bodyPr anchor="t" rtlCol="false" tIns="0" lIns="0" bIns="0" rIns="0">
            <a:spAutoFit/>
          </a:bodyPr>
          <a:lstStyle/>
          <a:p>
            <a:pPr algn="l">
              <a:lnSpc>
                <a:spcPts val="2239"/>
              </a:lnSpc>
            </a:pPr>
            <a:r>
              <a:rPr lang="en-US" sz="1599">
                <a:solidFill>
                  <a:srgbClr val="737373"/>
                </a:solidFill>
                <a:latin typeface="Now"/>
                <a:ea typeface="Now"/>
                <a:cs typeface="Now"/>
                <a:sym typeface="Now"/>
              </a:rPr>
              <a:t>Prompt used:</a:t>
            </a:r>
          </a:p>
          <a:p>
            <a:pPr algn="l">
              <a:lnSpc>
                <a:spcPts val="2239"/>
              </a:lnSpc>
            </a:pPr>
            <a:r>
              <a:rPr lang="en-US" sz="1599">
                <a:solidFill>
                  <a:srgbClr val="737373"/>
                </a:solidFill>
                <a:latin typeface="Now"/>
                <a:ea typeface="Now"/>
                <a:cs typeface="Now"/>
                <a:sym typeface="Now"/>
              </a:rPr>
              <a:t>A high-fidelity mobile app UI mockup of a modern login screen, vertical orientation. The background features a smooth, vibrant linear gradient transitioning from deep purple at the top to a warm coral/orange at the bottom. In the center, there is a clean white card container with rounded corners and a soft drop shadow. Inside the card, the title reads 'Welcome Back' in bold black font, with a smaller subtitle below it: 'Fill out the information below in order to access your account.' The form includes two minimalist, light-gray input fields labeled 'Email' and 'Password' (with an eye icon on the right). Below the inputs is a prominent, bright royal blue 'Sign In' button with white text. Underneath the button, it says 'Or sign in with' followed by a white button containing the Google logo and the text 'Continue with Google'. At the very bottom of the white card, the text reads 'Don't have an account? Sign Up here' with 'Sign Up here' highlighted in blue. Clean, professional, minimalist app design, UI/UX asset style.</a:t>
            </a:r>
          </a:p>
          <a:p>
            <a:pPr algn="l">
              <a:lnSpc>
                <a:spcPts val="2239"/>
              </a:lnSpc>
            </a:pPr>
          </a:p>
        </p:txBody>
      </p:sp>
      <p:sp>
        <p:nvSpPr>
          <p:cNvPr name="TextBox 9" id="9"/>
          <p:cNvSpPr txBox="true"/>
          <p:nvPr/>
        </p:nvSpPr>
        <p:spPr>
          <a:xfrm rot="0">
            <a:off x="17041474" y="482985"/>
            <a:ext cx="620583" cy="273685"/>
          </a:xfrm>
          <a:prstGeom prst="rect">
            <a:avLst/>
          </a:prstGeom>
        </p:spPr>
        <p:txBody>
          <a:bodyPr anchor="t" rtlCol="false" tIns="0" lIns="0" bIns="0" rIns="0">
            <a:spAutoFit/>
          </a:bodyPr>
          <a:lstStyle/>
          <a:p>
            <a:pPr algn="r">
              <a:lnSpc>
                <a:spcPts val="2239"/>
              </a:lnSpc>
            </a:pPr>
            <a:r>
              <a:rPr lang="en-US" sz="1599" b="true">
                <a:solidFill>
                  <a:srgbClr val="737373"/>
                </a:solidFill>
                <a:latin typeface="Now Bold"/>
                <a:ea typeface="Now Bold"/>
                <a:cs typeface="Now Bold"/>
                <a:sym typeface="Now Bold"/>
              </a:rPr>
              <a:t>05</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0" t="0" r="0" b="0"/>
            </a:stretch>
          </a:blipFill>
        </p:spPr>
      </p:sp>
      <p:sp>
        <p:nvSpPr>
          <p:cNvPr name="Freeform 3" id="3"/>
          <p:cNvSpPr/>
          <p:nvPr/>
        </p:nvSpPr>
        <p:spPr>
          <a:xfrm flipH="false" flipV="false" rot="2700000">
            <a:off x="17403571" y="9455408"/>
            <a:ext cx="250141" cy="250141"/>
          </a:xfrm>
          <a:custGeom>
            <a:avLst/>
            <a:gdLst/>
            <a:ahLst/>
            <a:cxnLst/>
            <a:rect r="r" b="b" t="t" l="l"/>
            <a:pathLst>
              <a:path h="250141" w="250141">
                <a:moveTo>
                  <a:pt x="0" y="0"/>
                </a:moveTo>
                <a:lnTo>
                  <a:pt x="250141" y="0"/>
                </a:lnTo>
                <a:lnTo>
                  <a:pt x="250141" y="250142"/>
                </a:lnTo>
                <a:lnTo>
                  <a:pt x="0" y="25014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4" id="4"/>
          <p:cNvSpPr/>
          <p:nvPr/>
        </p:nvSpPr>
        <p:spPr>
          <a:xfrm>
            <a:off x="16843213" y="-264186"/>
            <a:ext cx="0" cy="10734089"/>
          </a:xfrm>
          <a:prstGeom prst="line">
            <a:avLst/>
          </a:prstGeom>
          <a:ln cap="flat" w="9525">
            <a:solidFill>
              <a:srgbClr val="000000"/>
            </a:solidFill>
            <a:prstDash val="solid"/>
            <a:headEnd type="none" len="sm" w="sm"/>
            <a:tailEnd type="none" len="sm" w="sm"/>
          </a:ln>
        </p:spPr>
      </p:sp>
      <p:sp>
        <p:nvSpPr>
          <p:cNvPr name="Freeform 5" id="5"/>
          <p:cNvSpPr/>
          <p:nvPr/>
        </p:nvSpPr>
        <p:spPr>
          <a:xfrm flipH="false" flipV="false" rot="0">
            <a:off x="2947603" y="39115"/>
            <a:ext cx="4510513" cy="10247885"/>
          </a:xfrm>
          <a:custGeom>
            <a:avLst/>
            <a:gdLst/>
            <a:ahLst/>
            <a:cxnLst/>
            <a:rect r="r" b="b" t="t" l="l"/>
            <a:pathLst>
              <a:path h="10247885" w="4510513">
                <a:moveTo>
                  <a:pt x="0" y="0"/>
                </a:moveTo>
                <a:lnTo>
                  <a:pt x="4510513" y="0"/>
                </a:lnTo>
                <a:lnTo>
                  <a:pt x="4510513" y="10247885"/>
                </a:lnTo>
                <a:lnTo>
                  <a:pt x="0" y="10247885"/>
                </a:lnTo>
                <a:lnTo>
                  <a:pt x="0" y="0"/>
                </a:lnTo>
                <a:close/>
              </a:path>
            </a:pathLst>
          </a:custGeom>
          <a:blipFill>
            <a:blip r:embed="rId5"/>
            <a:stretch>
              <a:fillRect l="-2989" t="0" r="-7120" b="0"/>
            </a:stretch>
          </a:blipFill>
        </p:spPr>
      </p:sp>
      <p:sp>
        <p:nvSpPr>
          <p:cNvPr name="TextBox 6" id="6"/>
          <p:cNvSpPr txBox="true"/>
          <p:nvPr/>
        </p:nvSpPr>
        <p:spPr>
          <a:xfrm rot="0">
            <a:off x="9744116" y="885825"/>
            <a:ext cx="5008690" cy="2456815"/>
          </a:xfrm>
          <a:prstGeom prst="rect">
            <a:avLst/>
          </a:prstGeom>
        </p:spPr>
        <p:txBody>
          <a:bodyPr anchor="t" rtlCol="false" tIns="0" lIns="0" bIns="0" rIns="0">
            <a:spAutoFit/>
          </a:bodyPr>
          <a:lstStyle/>
          <a:p>
            <a:pPr algn="l">
              <a:lnSpc>
                <a:spcPts val="9799"/>
              </a:lnSpc>
            </a:pPr>
            <a:r>
              <a:rPr lang="en-US" sz="6999" b="true">
                <a:solidFill>
                  <a:srgbClr val="595858"/>
                </a:solidFill>
                <a:latin typeface="Now Bold"/>
                <a:ea typeface="Now Bold"/>
                <a:cs typeface="Now Bold"/>
                <a:sym typeface="Now Bold"/>
              </a:rPr>
              <a:t>Teachers Dashboard</a:t>
            </a:r>
          </a:p>
        </p:txBody>
      </p:sp>
      <p:sp>
        <p:nvSpPr>
          <p:cNvPr name="TextBox 7" id="7"/>
          <p:cNvSpPr txBox="true"/>
          <p:nvPr/>
        </p:nvSpPr>
        <p:spPr>
          <a:xfrm rot="0">
            <a:off x="9744116" y="3515823"/>
            <a:ext cx="5460264" cy="3035935"/>
          </a:xfrm>
          <a:prstGeom prst="rect">
            <a:avLst/>
          </a:prstGeom>
        </p:spPr>
        <p:txBody>
          <a:bodyPr anchor="t" rtlCol="false" tIns="0" lIns="0" bIns="0" rIns="0">
            <a:spAutoFit/>
          </a:bodyPr>
          <a:lstStyle/>
          <a:p>
            <a:pPr algn="l">
              <a:lnSpc>
                <a:spcPts val="2239"/>
              </a:lnSpc>
            </a:pPr>
            <a:r>
              <a:rPr lang="en-US" sz="1599">
                <a:solidFill>
                  <a:srgbClr val="737373"/>
                </a:solidFill>
                <a:latin typeface="Now"/>
                <a:ea typeface="Now"/>
                <a:cs typeface="Now"/>
                <a:sym typeface="Now"/>
              </a:rPr>
              <a:t>Prompt used:</a:t>
            </a:r>
          </a:p>
          <a:p>
            <a:pPr algn="l">
              <a:lnSpc>
                <a:spcPts val="2239"/>
              </a:lnSpc>
            </a:pPr>
            <a:r>
              <a:rPr lang="en-US" sz="1599">
                <a:solidFill>
                  <a:srgbClr val="737373"/>
                </a:solidFill>
                <a:latin typeface="Now"/>
                <a:ea typeface="Now"/>
                <a:cs typeface="Now"/>
                <a:sym typeface="Now"/>
              </a:rPr>
              <a:t>A professional Teacher's Command Center dashboard. Top section: A welcoming header 'Hello, Professor' with a profile picture and a date widget. Middle section: A grid of 'Class Cards'. Each card should have a subject name (e.g., AI 101), the number of enrolled students, and a small 'Start Attendance' button. Bottom section: A floating action button (FAB) in the bottom right corner with a camera icon. Color palette: White background, Electric Blue accents, and soft gray cards. Style: Modern SaaS Dashboard, clean grid system.</a:t>
            </a:r>
          </a:p>
        </p:txBody>
      </p:sp>
      <p:sp>
        <p:nvSpPr>
          <p:cNvPr name="TextBox 8" id="8"/>
          <p:cNvSpPr txBox="true"/>
          <p:nvPr/>
        </p:nvSpPr>
        <p:spPr>
          <a:xfrm rot="0">
            <a:off x="17041474" y="482985"/>
            <a:ext cx="620583" cy="273685"/>
          </a:xfrm>
          <a:prstGeom prst="rect">
            <a:avLst/>
          </a:prstGeom>
        </p:spPr>
        <p:txBody>
          <a:bodyPr anchor="t" rtlCol="false" tIns="0" lIns="0" bIns="0" rIns="0">
            <a:spAutoFit/>
          </a:bodyPr>
          <a:lstStyle/>
          <a:p>
            <a:pPr algn="r">
              <a:lnSpc>
                <a:spcPts val="2239"/>
              </a:lnSpc>
            </a:pPr>
            <a:r>
              <a:rPr lang="en-US" sz="1599" b="true">
                <a:solidFill>
                  <a:srgbClr val="737373"/>
                </a:solidFill>
                <a:latin typeface="Now Bold"/>
                <a:ea typeface="Now Bold"/>
                <a:cs typeface="Now Bold"/>
                <a:sym typeface="Now Bold"/>
              </a:rPr>
              <a:t>06</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0" t="0" r="0" b="0"/>
            </a:stretch>
          </a:blipFill>
        </p:spPr>
      </p:sp>
      <p:grpSp>
        <p:nvGrpSpPr>
          <p:cNvPr name="Group 3" id="3"/>
          <p:cNvGrpSpPr/>
          <p:nvPr/>
        </p:nvGrpSpPr>
        <p:grpSpPr>
          <a:xfrm rot="0">
            <a:off x="2584312" y="-158512"/>
            <a:ext cx="5589812" cy="10604023"/>
            <a:chOff x="0" y="0"/>
            <a:chExt cx="866008" cy="1642841"/>
          </a:xfrm>
        </p:grpSpPr>
        <p:sp>
          <p:nvSpPr>
            <p:cNvPr name="Freeform 4" id="4"/>
            <p:cNvSpPr/>
            <p:nvPr/>
          </p:nvSpPr>
          <p:spPr>
            <a:xfrm flipH="false" flipV="false" rot="6000">
              <a:off x="-1433" y="-754"/>
              <a:ext cx="868874" cy="1644350"/>
            </a:xfrm>
            <a:custGeom>
              <a:avLst/>
              <a:gdLst/>
              <a:ahLst/>
              <a:cxnLst/>
              <a:rect r="r" b="b" t="t" l="l"/>
              <a:pathLst>
                <a:path h="1644350" w="868874">
                  <a:moveTo>
                    <a:pt x="0" y="1511"/>
                  </a:moveTo>
                  <a:lnTo>
                    <a:pt x="866007" y="0"/>
                  </a:lnTo>
                  <a:lnTo>
                    <a:pt x="868874" y="1642838"/>
                  </a:lnTo>
                  <a:lnTo>
                    <a:pt x="2867" y="1644349"/>
                  </a:lnTo>
                  <a:close/>
                </a:path>
              </a:pathLst>
            </a:custGeom>
            <a:blipFill>
              <a:blip r:embed="rId3"/>
              <a:stretch>
                <a:fillRect l="-2" t="-8120" r="-110" b="-1842"/>
              </a:stretch>
            </a:blipFill>
            <a:ln w="19050" cap="sq">
              <a:solidFill>
                <a:srgbClr val="000000"/>
              </a:solidFill>
              <a:prstDash val="solid"/>
              <a:miter/>
            </a:ln>
          </p:spPr>
        </p:sp>
      </p:grpSp>
      <p:sp>
        <p:nvSpPr>
          <p:cNvPr name="Freeform 5" id="5"/>
          <p:cNvSpPr/>
          <p:nvPr/>
        </p:nvSpPr>
        <p:spPr>
          <a:xfrm flipH="false" flipV="false" rot="2700000">
            <a:off x="17403571" y="9455408"/>
            <a:ext cx="250141" cy="250141"/>
          </a:xfrm>
          <a:custGeom>
            <a:avLst/>
            <a:gdLst/>
            <a:ahLst/>
            <a:cxnLst/>
            <a:rect r="r" b="b" t="t" l="l"/>
            <a:pathLst>
              <a:path h="250141" w="250141">
                <a:moveTo>
                  <a:pt x="0" y="0"/>
                </a:moveTo>
                <a:lnTo>
                  <a:pt x="250141" y="0"/>
                </a:lnTo>
                <a:lnTo>
                  <a:pt x="250141" y="250142"/>
                </a:lnTo>
                <a:lnTo>
                  <a:pt x="0" y="25014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6" id="6"/>
          <p:cNvSpPr/>
          <p:nvPr/>
        </p:nvSpPr>
        <p:spPr>
          <a:xfrm>
            <a:off x="16843213" y="-264186"/>
            <a:ext cx="0" cy="10734089"/>
          </a:xfrm>
          <a:prstGeom prst="line">
            <a:avLst/>
          </a:prstGeom>
          <a:ln cap="flat" w="9525">
            <a:solidFill>
              <a:srgbClr val="000000"/>
            </a:solidFill>
            <a:prstDash val="solid"/>
            <a:headEnd type="none" len="sm" w="sm"/>
            <a:tailEnd type="none" len="sm" w="sm"/>
          </a:ln>
        </p:spPr>
      </p:sp>
      <p:sp>
        <p:nvSpPr>
          <p:cNvPr name="TextBox 7" id="7"/>
          <p:cNvSpPr txBox="true"/>
          <p:nvPr/>
        </p:nvSpPr>
        <p:spPr>
          <a:xfrm rot="0">
            <a:off x="9744116" y="885825"/>
            <a:ext cx="5008690" cy="2456815"/>
          </a:xfrm>
          <a:prstGeom prst="rect">
            <a:avLst/>
          </a:prstGeom>
        </p:spPr>
        <p:txBody>
          <a:bodyPr anchor="t" rtlCol="false" tIns="0" lIns="0" bIns="0" rIns="0">
            <a:spAutoFit/>
          </a:bodyPr>
          <a:lstStyle/>
          <a:p>
            <a:pPr algn="l">
              <a:lnSpc>
                <a:spcPts val="9799"/>
              </a:lnSpc>
            </a:pPr>
            <a:r>
              <a:rPr lang="en-US" sz="6999" b="true">
                <a:solidFill>
                  <a:srgbClr val="595858"/>
                </a:solidFill>
                <a:latin typeface="Now Bold"/>
                <a:ea typeface="Now Bold"/>
                <a:cs typeface="Now Bold"/>
                <a:sym typeface="Now Bold"/>
              </a:rPr>
              <a:t>Face Enrollment</a:t>
            </a:r>
          </a:p>
        </p:txBody>
      </p:sp>
      <p:sp>
        <p:nvSpPr>
          <p:cNvPr name="TextBox 8" id="8"/>
          <p:cNvSpPr txBox="true"/>
          <p:nvPr/>
        </p:nvSpPr>
        <p:spPr>
          <a:xfrm rot="0">
            <a:off x="9744116" y="3515823"/>
            <a:ext cx="5460264" cy="2759710"/>
          </a:xfrm>
          <a:prstGeom prst="rect">
            <a:avLst/>
          </a:prstGeom>
        </p:spPr>
        <p:txBody>
          <a:bodyPr anchor="t" rtlCol="false" tIns="0" lIns="0" bIns="0" rIns="0">
            <a:spAutoFit/>
          </a:bodyPr>
          <a:lstStyle/>
          <a:p>
            <a:pPr algn="l">
              <a:lnSpc>
                <a:spcPts val="2239"/>
              </a:lnSpc>
            </a:pPr>
            <a:r>
              <a:rPr lang="en-US" sz="1599">
                <a:solidFill>
                  <a:srgbClr val="737373"/>
                </a:solidFill>
                <a:latin typeface="Now"/>
                <a:ea typeface="Now"/>
                <a:cs typeface="Now"/>
                <a:sym typeface="Now"/>
              </a:rPr>
              <a:t>Prompt used:</a:t>
            </a:r>
          </a:p>
          <a:p>
            <a:pPr algn="l">
              <a:lnSpc>
                <a:spcPts val="2239"/>
              </a:lnSpc>
            </a:pPr>
            <a:r>
              <a:rPr lang="en-US" sz="1599">
                <a:solidFill>
                  <a:srgbClr val="737373"/>
                </a:solidFill>
                <a:latin typeface="Now"/>
                <a:ea typeface="Now"/>
                <a:cs typeface="Now"/>
                <a:sym typeface="Now"/>
              </a:rPr>
              <a:t>A high-tech face registration interface. Dark mode theme with a deep navy background. Center of the screen: a large, glowing circular camera viewfinder with a pulsing electric blue border to guide face placement. Below the viewfinder, a status text 'Align your face within the circle' in white. At the bottom, a futuristic, glassmorphism-style button that says 'Capture &amp; Enroll' with a subtle glow effect. Style: Futuristic, AI-driven, Cyber-minimalism.</a:t>
            </a:r>
          </a:p>
        </p:txBody>
      </p:sp>
      <p:sp>
        <p:nvSpPr>
          <p:cNvPr name="TextBox 9" id="9"/>
          <p:cNvSpPr txBox="true"/>
          <p:nvPr/>
        </p:nvSpPr>
        <p:spPr>
          <a:xfrm rot="0">
            <a:off x="17041474" y="482985"/>
            <a:ext cx="620583" cy="273685"/>
          </a:xfrm>
          <a:prstGeom prst="rect">
            <a:avLst/>
          </a:prstGeom>
        </p:spPr>
        <p:txBody>
          <a:bodyPr anchor="t" rtlCol="false" tIns="0" lIns="0" bIns="0" rIns="0">
            <a:spAutoFit/>
          </a:bodyPr>
          <a:lstStyle/>
          <a:p>
            <a:pPr algn="r">
              <a:lnSpc>
                <a:spcPts val="2239"/>
              </a:lnSpc>
            </a:pPr>
            <a:r>
              <a:rPr lang="en-US" sz="1599" b="true">
                <a:solidFill>
                  <a:srgbClr val="737373"/>
                </a:solidFill>
                <a:latin typeface="Now Bold"/>
                <a:ea typeface="Now Bold"/>
                <a:cs typeface="Now Bold"/>
                <a:sym typeface="Now Bold"/>
              </a:rPr>
              <a:t>07</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0" t="0" r="0" b="0"/>
            </a:stretch>
          </a:blipFill>
        </p:spPr>
      </p:sp>
      <p:grpSp>
        <p:nvGrpSpPr>
          <p:cNvPr name="Group 3" id="3"/>
          <p:cNvGrpSpPr/>
          <p:nvPr/>
        </p:nvGrpSpPr>
        <p:grpSpPr>
          <a:xfrm rot="0">
            <a:off x="2584312" y="-158512"/>
            <a:ext cx="5589812" cy="10604023"/>
            <a:chOff x="0" y="0"/>
            <a:chExt cx="866008" cy="1642841"/>
          </a:xfrm>
        </p:grpSpPr>
        <p:sp>
          <p:nvSpPr>
            <p:cNvPr name="Freeform 4" id="4"/>
            <p:cNvSpPr/>
            <p:nvPr/>
          </p:nvSpPr>
          <p:spPr>
            <a:xfrm flipH="false" flipV="false" rot="0">
              <a:off x="0" y="0"/>
              <a:ext cx="866008" cy="1642841"/>
            </a:xfrm>
            <a:custGeom>
              <a:avLst/>
              <a:gdLst/>
              <a:ahLst/>
              <a:cxnLst/>
              <a:rect r="r" b="b" t="t" l="l"/>
              <a:pathLst>
                <a:path h="1642841" w="866008">
                  <a:moveTo>
                    <a:pt x="0" y="0"/>
                  </a:moveTo>
                  <a:lnTo>
                    <a:pt x="866008" y="0"/>
                  </a:lnTo>
                  <a:lnTo>
                    <a:pt x="866008" y="1642841"/>
                  </a:lnTo>
                  <a:lnTo>
                    <a:pt x="0" y="1642841"/>
                  </a:lnTo>
                  <a:close/>
                </a:path>
              </a:pathLst>
            </a:custGeom>
            <a:blipFill>
              <a:blip r:embed="rId3"/>
              <a:stretch>
                <a:fillRect l="-7513" t="-2935" r="-6846" b="-24135"/>
              </a:stretch>
            </a:blipFill>
            <a:ln w="19050" cap="sq">
              <a:solidFill>
                <a:srgbClr val="000000"/>
              </a:solidFill>
              <a:prstDash val="solid"/>
              <a:miter/>
            </a:ln>
          </p:spPr>
        </p:sp>
      </p:grpSp>
      <p:sp>
        <p:nvSpPr>
          <p:cNvPr name="Freeform 5" id="5"/>
          <p:cNvSpPr/>
          <p:nvPr/>
        </p:nvSpPr>
        <p:spPr>
          <a:xfrm flipH="false" flipV="false" rot="2700000">
            <a:off x="17403571" y="9455408"/>
            <a:ext cx="250141" cy="250141"/>
          </a:xfrm>
          <a:custGeom>
            <a:avLst/>
            <a:gdLst/>
            <a:ahLst/>
            <a:cxnLst/>
            <a:rect r="r" b="b" t="t" l="l"/>
            <a:pathLst>
              <a:path h="250141" w="250141">
                <a:moveTo>
                  <a:pt x="0" y="0"/>
                </a:moveTo>
                <a:lnTo>
                  <a:pt x="250141" y="0"/>
                </a:lnTo>
                <a:lnTo>
                  <a:pt x="250141" y="250142"/>
                </a:lnTo>
                <a:lnTo>
                  <a:pt x="0" y="25014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6" id="6"/>
          <p:cNvSpPr/>
          <p:nvPr/>
        </p:nvSpPr>
        <p:spPr>
          <a:xfrm>
            <a:off x="16843213" y="-264186"/>
            <a:ext cx="0" cy="10734089"/>
          </a:xfrm>
          <a:prstGeom prst="line">
            <a:avLst/>
          </a:prstGeom>
          <a:ln cap="flat" w="9525">
            <a:solidFill>
              <a:srgbClr val="000000"/>
            </a:solidFill>
            <a:prstDash val="solid"/>
            <a:headEnd type="none" len="sm" w="sm"/>
            <a:tailEnd type="none" len="sm" w="sm"/>
          </a:ln>
        </p:spPr>
      </p:sp>
      <p:sp>
        <p:nvSpPr>
          <p:cNvPr name="TextBox 7" id="7"/>
          <p:cNvSpPr txBox="true"/>
          <p:nvPr/>
        </p:nvSpPr>
        <p:spPr>
          <a:xfrm rot="0">
            <a:off x="9744116" y="885825"/>
            <a:ext cx="6768062" cy="2456815"/>
          </a:xfrm>
          <a:prstGeom prst="rect">
            <a:avLst/>
          </a:prstGeom>
        </p:spPr>
        <p:txBody>
          <a:bodyPr anchor="t" rtlCol="false" tIns="0" lIns="0" bIns="0" rIns="0">
            <a:spAutoFit/>
          </a:bodyPr>
          <a:lstStyle/>
          <a:p>
            <a:pPr algn="l">
              <a:lnSpc>
                <a:spcPts val="9799"/>
              </a:lnSpc>
            </a:pPr>
            <a:r>
              <a:rPr lang="en-US" sz="6999" b="true">
                <a:solidFill>
                  <a:srgbClr val="595858"/>
                </a:solidFill>
                <a:latin typeface="Now Bold"/>
                <a:ea typeface="Now Bold"/>
                <a:cs typeface="Now Bold"/>
                <a:sym typeface="Now Bold"/>
              </a:rPr>
              <a:t>Student Registration</a:t>
            </a:r>
          </a:p>
        </p:txBody>
      </p:sp>
      <p:sp>
        <p:nvSpPr>
          <p:cNvPr name="TextBox 8" id="8"/>
          <p:cNvSpPr txBox="true"/>
          <p:nvPr/>
        </p:nvSpPr>
        <p:spPr>
          <a:xfrm rot="0">
            <a:off x="9744116" y="3896701"/>
            <a:ext cx="5460264" cy="3035935"/>
          </a:xfrm>
          <a:prstGeom prst="rect">
            <a:avLst/>
          </a:prstGeom>
        </p:spPr>
        <p:txBody>
          <a:bodyPr anchor="t" rtlCol="false" tIns="0" lIns="0" bIns="0" rIns="0">
            <a:spAutoFit/>
          </a:bodyPr>
          <a:lstStyle/>
          <a:p>
            <a:pPr algn="l">
              <a:lnSpc>
                <a:spcPts val="2239"/>
              </a:lnSpc>
            </a:pPr>
            <a:r>
              <a:rPr lang="en-US" sz="1599">
                <a:solidFill>
                  <a:srgbClr val="737373"/>
                </a:solidFill>
                <a:latin typeface="Now"/>
                <a:ea typeface="Now"/>
                <a:cs typeface="Now"/>
                <a:sym typeface="Now"/>
              </a:rPr>
              <a:t>Prompt used:</a:t>
            </a:r>
          </a:p>
          <a:p>
            <a:pPr algn="l">
              <a:lnSpc>
                <a:spcPts val="2239"/>
              </a:lnSpc>
            </a:pPr>
            <a:r>
              <a:rPr lang="en-US" sz="1599">
                <a:solidFill>
                  <a:srgbClr val="737373"/>
                </a:solidFill>
                <a:latin typeface="Now"/>
                <a:ea typeface="Now"/>
                <a:cs typeface="Now"/>
                <a:sym typeface="Now"/>
              </a:rPr>
              <a:t>A professional student enrollment screen. Use a clean, centered card layout with a soft white background and a subtle outer glow. Header: 'Create Your Student Profile' in bold dark navy. Include input fields for 'Full Name', 'University ID', and 'Department' with floating labels. At the bottom, a large, rounded Electric Blue button that says 'Proceed to Face Registration' with a right-arrow icon. The background should be a very light gray #F0F2F5 to make the white card pop. Style: Modern Enterprise UI, clean lines.</a:t>
            </a:r>
          </a:p>
        </p:txBody>
      </p:sp>
      <p:sp>
        <p:nvSpPr>
          <p:cNvPr name="TextBox 9" id="9"/>
          <p:cNvSpPr txBox="true"/>
          <p:nvPr/>
        </p:nvSpPr>
        <p:spPr>
          <a:xfrm rot="0">
            <a:off x="17041474" y="482985"/>
            <a:ext cx="620583" cy="273685"/>
          </a:xfrm>
          <a:prstGeom prst="rect">
            <a:avLst/>
          </a:prstGeom>
        </p:spPr>
        <p:txBody>
          <a:bodyPr anchor="t" rtlCol="false" tIns="0" lIns="0" bIns="0" rIns="0">
            <a:spAutoFit/>
          </a:bodyPr>
          <a:lstStyle/>
          <a:p>
            <a:pPr algn="r">
              <a:lnSpc>
                <a:spcPts val="2239"/>
              </a:lnSpc>
            </a:pPr>
            <a:r>
              <a:rPr lang="en-US" sz="1599" b="true">
                <a:solidFill>
                  <a:srgbClr val="737373"/>
                </a:solidFill>
                <a:latin typeface="Now Bold"/>
                <a:ea typeface="Now Bold"/>
                <a:cs typeface="Now Bold"/>
                <a:sym typeface="Now Bold"/>
              </a:rPr>
              <a:t>08</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0" t="0" r="0" b="0"/>
            </a:stretch>
          </a:blipFill>
        </p:spPr>
      </p:sp>
      <p:grpSp>
        <p:nvGrpSpPr>
          <p:cNvPr name="Group 3" id="3"/>
          <p:cNvGrpSpPr/>
          <p:nvPr/>
        </p:nvGrpSpPr>
        <p:grpSpPr>
          <a:xfrm rot="0">
            <a:off x="2584312" y="-158512"/>
            <a:ext cx="5589812" cy="10604023"/>
            <a:chOff x="0" y="0"/>
            <a:chExt cx="866008" cy="1642841"/>
          </a:xfrm>
        </p:grpSpPr>
        <p:sp>
          <p:nvSpPr>
            <p:cNvPr name="Freeform 4" id="4"/>
            <p:cNvSpPr/>
            <p:nvPr/>
          </p:nvSpPr>
          <p:spPr>
            <a:xfrm flipH="false" flipV="false" rot="29999">
              <a:off x="-7152" y="-3747"/>
              <a:ext cx="880311" cy="1650335"/>
            </a:xfrm>
            <a:custGeom>
              <a:avLst/>
              <a:gdLst/>
              <a:ahLst/>
              <a:cxnLst/>
              <a:rect r="r" b="b" t="t" l="l"/>
              <a:pathLst>
                <a:path h="1650335" w="880311">
                  <a:moveTo>
                    <a:pt x="0" y="7557"/>
                  </a:moveTo>
                  <a:lnTo>
                    <a:pt x="865975" y="0"/>
                  </a:lnTo>
                  <a:lnTo>
                    <a:pt x="880312" y="1642778"/>
                  </a:lnTo>
                  <a:lnTo>
                    <a:pt x="14337" y="1650335"/>
                  </a:lnTo>
                  <a:close/>
                </a:path>
              </a:pathLst>
            </a:custGeom>
            <a:blipFill>
              <a:blip r:embed="rId3"/>
              <a:stretch>
                <a:fillRect l="-125" t="-9602" r="0" b="-1742"/>
              </a:stretch>
            </a:blipFill>
            <a:ln w="19050" cap="sq">
              <a:solidFill>
                <a:srgbClr val="000000"/>
              </a:solidFill>
              <a:prstDash val="solid"/>
              <a:miter/>
            </a:ln>
          </p:spPr>
        </p:sp>
      </p:grpSp>
      <p:sp>
        <p:nvSpPr>
          <p:cNvPr name="Freeform 5" id="5"/>
          <p:cNvSpPr/>
          <p:nvPr/>
        </p:nvSpPr>
        <p:spPr>
          <a:xfrm flipH="false" flipV="false" rot="2700000">
            <a:off x="17403571" y="9455408"/>
            <a:ext cx="250141" cy="250141"/>
          </a:xfrm>
          <a:custGeom>
            <a:avLst/>
            <a:gdLst/>
            <a:ahLst/>
            <a:cxnLst/>
            <a:rect r="r" b="b" t="t" l="l"/>
            <a:pathLst>
              <a:path h="250141" w="250141">
                <a:moveTo>
                  <a:pt x="0" y="0"/>
                </a:moveTo>
                <a:lnTo>
                  <a:pt x="250141" y="0"/>
                </a:lnTo>
                <a:lnTo>
                  <a:pt x="250141" y="250142"/>
                </a:lnTo>
                <a:lnTo>
                  <a:pt x="0" y="25014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6" id="6"/>
          <p:cNvSpPr/>
          <p:nvPr/>
        </p:nvSpPr>
        <p:spPr>
          <a:xfrm>
            <a:off x="16843213" y="-264186"/>
            <a:ext cx="0" cy="10734089"/>
          </a:xfrm>
          <a:prstGeom prst="line">
            <a:avLst/>
          </a:prstGeom>
          <a:ln cap="flat" w="9525">
            <a:solidFill>
              <a:srgbClr val="000000"/>
            </a:solidFill>
            <a:prstDash val="solid"/>
            <a:headEnd type="none" len="sm" w="sm"/>
            <a:tailEnd type="none" len="sm" w="sm"/>
          </a:ln>
        </p:spPr>
      </p:sp>
      <p:sp>
        <p:nvSpPr>
          <p:cNvPr name="TextBox 7" id="7"/>
          <p:cNvSpPr txBox="true"/>
          <p:nvPr/>
        </p:nvSpPr>
        <p:spPr>
          <a:xfrm rot="0">
            <a:off x="9744116" y="630383"/>
            <a:ext cx="5930580" cy="2456815"/>
          </a:xfrm>
          <a:prstGeom prst="rect">
            <a:avLst/>
          </a:prstGeom>
        </p:spPr>
        <p:txBody>
          <a:bodyPr anchor="t" rtlCol="false" tIns="0" lIns="0" bIns="0" rIns="0">
            <a:spAutoFit/>
          </a:bodyPr>
          <a:lstStyle/>
          <a:p>
            <a:pPr algn="l">
              <a:lnSpc>
                <a:spcPts val="9799"/>
              </a:lnSpc>
            </a:pPr>
            <a:r>
              <a:rPr lang="en-US" sz="6999" b="true">
                <a:solidFill>
                  <a:srgbClr val="595858"/>
                </a:solidFill>
                <a:latin typeface="Now Bold"/>
                <a:ea typeface="Now Bold"/>
                <a:cs typeface="Now Bold"/>
                <a:sym typeface="Now Bold"/>
              </a:rPr>
              <a:t>Attendance Scanning</a:t>
            </a:r>
          </a:p>
        </p:txBody>
      </p:sp>
      <p:sp>
        <p:nvSpPr>
          <p:cNvPr name="TextBox 8" id="8"/>
          <p:cNvSpPr txBox="true"/>
          <p:nvPr/>
        </p:nvSpPr>
        <p:spPr>
          <a:xfrm rot="0">
            <a:off x="9744116" y="3515823"/>
            <a:ext cx="5460264" cy="2759710"/>
          </a:xfrm>
          <a:prstGeom prst="rect">
            <a:avLst/>
          </a:prstGeom>
        </p:spPr>
        <p:txBody>
          <a:bodyPr anchor="t" rtlCol="false" tIns="0" lIns="0" bIns="0" rIns="0">
            <a:spAutoFit/>
          </a:bodyPr>
          <a:lstStyle/>
          <a:p>
            <a:pPr algn="l">
              <a:lnSpc>
                <a:spcPts val="2239"/>
              </a:lnSpc>
            </a:pPr>
            <a:r>
              <a:rPr lang="en-US" sz="1599">
                <a:solidFill>
                  <a:srgbClr val="737373"/>
                </a:solidFill>
                <a:latin typeface="Now"/>
                <a:ea typeface="Now"/>
                <a:cs typeface="Now"/>
                <a:sym typeface="Now"/>
              </a:rPr>
              <a:t>Prompt used:</a:t>
            </a:r>
          </a:p>
          <a:p>
            <a:pPr algn="l">
              <a:lnSpc>
                <a:spcPts val="2239"/>
              </a:lnSpc>
            </a:pPr>
            <a:r>
              <a:rPr lang="en-US" sz="1599">
                <a:solidFill>
                  <a:srgbClr val="737373"/>
                </a:solidFill>
                <a:latin typeface="Now"/>
                <a:ea typeface="Now"/>
                <a:cs typeface="Now"/>
                <a:sym typeface="Now"/>
              </a:rPr>
              <a:t>A minimalist full-screen camera scanner interface. The screen is almost entirely a camera view. In the center: a thin, white square scanning frame with four corner brackets. Above the frame, a floating semi-transparent pill-shaped label that says 'Scanning for Student...'. At the bottom, a large, rounded Electric Blue button that says 'Capture Face'. The UI should be overlayed on the camera feed with high transparency. Style: Modern Utility App, focused and clean.</a:t>
            </a:r>
          </a:p>
        </p:txBody>
      </p:sp>
      <p:sp>
        <p:nvSpPr>
          <p:cNvPr name="TextBox 9" id="9"/>
          <p:cNvSpPr txBox="true"/>
          <p:nvPr/>
        </p:nvSpPr>
        <p:spPr>
          <a:xfrm rot="0">
            <a:off x="17041474" y="482985"/>
            <a:ext cx="620583" cy="273685"/>
          </a:xfrm>
          <a:prstGeom prst="rect">
            <a:avLst/>
          </a:prstGeom>
        </p:spPr>
        <p:txBody>
          <a:bodyPr anchor="t" rtlCol="false" tIns="0" lIns="0" bIns="0" rIns="0">
            <a:spAutoFit/>
          </a:bodyPr>
          <a:lstStyle/>
          <a:p>
            <a:pPr algn="r">
              <a:lnSpc>
                <a:spcPts val="2239"/>
              </a:lnSpc>
            </a:pPr>
            <a:r>
              <a:rPr lang="en-US" sz="1599" b="true">
                <a:solidFill>
                  <a:srgbClr val="737373"/>
                </a:solidFill>
                <a:latin typeface="Now Bold"/>
                <a:ea typeface="Now Bold"/>
                <a:cs typeface="Now Bold"/>
                <a:sym typeface="Now Bold"/>
              </a:rPr>
              <a:t>09</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0" t="0" r="0" b="0"/>
            </a:stretch>
          </a:blipFill>
        </p:spPr>
      </p:sp>
      <p:grpSp>
        <p:nvGrpSpPr>
          <p:cNvPr name="Group 3" id="3"/>
          <p:cNvGrpSpPr/>
          <p:nvPr/>
        </p:nvGrpSpPr>
        <p:grpSpPr>
          <a:xfrm rot="0">
            <a:off x="2373130" y="-79256"/>
            <a:ext cx="5084987" cy="10445512"/>
            <a:chOff x="0" y="0"/>
            <a:chExt cx="787798" cy="1618283"/>
          </a:xfrm>
        </p:grpSpPr>
        <p:sp>
          <p:nvSpPr>
            <p:cNvPr name="Freeform 4" id="4"/>
            <p:cNvSpPr/>
            <p:nvPr/>
          </p:nvSpPr>
          <p:spPr>
            <a:xfrm flipH="false" flipV="false" rot="0">
              <a:off x="0" y="0"/>
              <a:ext cx="787798" cy="1618283"/>
            </a:xfrm>
            <a:custGeom>
              <a:avLst/>
              <a:gdLst/>
              <a:ahLst/>
              <a:cxnLst/>
              <a:rect r="r" b="b" t="t" l="l"/>
              <a:pathLst>
                <a:path h="1618283" w="787798">
                  <a:moveTo>
                    <a:pt x="0" y="0"/>
                  </a:moveTo>
                  <a:lnTo>
                    <a:pt x="787798" y="0"/>
                  </a:lnTo>
                  <a:lnTo>
                    <a:pt x="787798" y="1618283"/>
                  </a:lnTo>
                  <a:lnTo>
                    <a:pt x="0" y="1618283"/>
                  </a:lnTo>
                  <a:close/>
                </a:path>
              </a:pathLst>
            </a:custGeom>
            <a:blipFill>
              <a:blip r:embed="rId3"/>
              <a:stretch>
                <a:fillRect l="-591" t="-1345" r="-591" b="-1345"/>
              </a:stretch>
            </a:blipFill>
            <a:ln w="19050" cap="sq">
              <a:solidFill>
                <a:srgbClr val="000000"/>
              </a:solidFill>
              <a:prstDash val="solid"/>
              <a:miter/>
            </a:ln>
          </p:spPr>
        </p:sp>
      </p:grpSp>
      <p:sp>
        <p:nvSpPr>
          <p:cNvPr name="Freeform 5" id="5"/>
          <p:cNvSpPr/>
          <p:nvPr/>
        </p:nvSpPr>
        <p:spPr>
          <a:xfrm flipH="false" flipV="false" rot="2700000">
            <a:off x="17403571" y="9455408"/>
            <a:ext cx="250141" cy="250141"/>
          </a:xfrm>
          <a:custGeom>
            <a:avLst/>
            <a:gdLst/>
            <a:ahLst/>
            <a:cxnLst/>
            <a:rect r="r" b="b" t="t" l="l"/>
            <a:pathLst>
              <a:path h="250141" w="250141">
                <a:moveTo>
                  <a:pt x="0" y="0"/>
                </a:moveTo>
                <a:lnTo>
                  <a:pt x="250141" y="0"/>
                </a:lnTo>
                <a:lnTo>
                  <a:pt x="250141" y="250142"/>
                </a:lnTo>
                <a:lnTo>
                  <a:pt x="0" y="25014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6" id="6"/>
          <p:cNvSpPr/>
          <p:nvPr/>
        </p:nvSpPr>
        <p:spPr>
          <a:xfrm>
            <a:off x="16843213" y="-264186"/>
            <a:ext cx="0" cy="10734089"/>
          </a:xfrm>
          <a:prstGeom prst="line">
            <a:avLst/>
          </a:prstGeom>
          <a:ln cap="flat" w="9525">
            <a:solidFill>
              <a:srgbClr val="000000"/>
            </a:solidFill>
            <a:prstDash val="solid"/>
            <a:headEnd type="none" len="sm" w="sm"/>
            <a:tailEnd type="none" len="sm" w="sm"/>
          </a:ln>
        </p:spPr>
      </p:sp>
      <p:sp>
        <p:nvSpPr>
          <p:cNvPr name="TextBox 7" id="7"/>
          <p:cNvSpPr txBox="true"/>
          <p:nvPr/>
        </p:nvSpPr>
        <p:spPr>
          <a:xfrm rot="0">
            <a:off x="9744116" y="811358"/>
            <a:ext cx="5694748" cy="2456815"/>
          </a:xfrm>
          <a:prstGeom prst="rect">
            <a:avLst/>
          </a:prstGeom>
        </p:spPr>
        <p:txBody>
          <a:bodyPr anchor="t" rtlCol="false" tIns="0" lIns="0" bIns="0" rIns="0">
            <a:spAutoFit/>
          </a:bodyPr>
          <a:lstStyle/>
          <a:p>
            <a:pPr algn="l">
              <a:lnSpc>
                <a:spcPts val="9799"/>
              </a:lnSpc>
            </a:pPr>
            <a:r>
              <a:rPr lang="en-US" sz="6999" b="true">
                <a:solidFill>
                  <a:srgbClr val="595858"/>
                </a:solidFill>
                <a:latin typeface="Now Bold"/>
                <a:ea typeface="Now Bold"/>
                <a:cs typeface="Now Bold"/>
                <a:sym typeface="Now Bold"/>
              </a:rPr>
              <a:t>Attendance Report</a:t>
            </a:r>
          </a:p>
        </p:txBody>
      </p:sp>
      <p:sp>
        <p:nvSpPr>
          <p:cNvPr name="TextBox 8" id="8"/>
          <p:cNvSpPr txBox="true"/>
          <p:nvPr/>
        </p:nvSpPr>
        <p:spPr>
          <a:xfrm rot="0">
            <a:off x="9744116" y="3515823"/>
            <a:ext cx="5460264" cy="2759710"/>
          </a:xfrm>
          <a:prstGeom prst="rect">
            <a:avLst/>
          </a:prstGeom>
        </p:spPr>
        <p:txBody>
          <a:bodyPr anchor="t" rtlCol="false" tIns="0" lIns="0" bIns="0" rIns="0">
            <a:spAutoFit/>
          </a:bodyPr>
          <a:lstStyle/>
          <a:p>
            <a:pPr algn="l">
              <a:lnSpc>
                <a:spcPts val="2239"/>
              </a:lnSpc>
            </a:pPr>
            <a:r>
              <a:rPr lang="en-US" sz="1599">
                <a:solidFill>
                  <a:srgbClr val="737373"/>
                </a:solidFill>
                <a:latin typeface="Now"/>
                <a:ea typeface="Now"/>
                <a:cs typeface="Now"/>
                <a:sym typeface="Now"/>
              </a:rPr>
              <a:t>Prompt used:</a:t>
            </a:r>
          </a:p>
          <a:p>
            <a:pPr algn="l">
              <a:lnSpc>
                <a:spcPts val="2239"/>
              </a:lnSpc>
            </a:pPr>
            <a:r>
              <a:rPr lang="en-US" sz="1599">
                <a:solidFill>
                  <a:srgbClr val="737373"/>
                </a:solidFill>
                <a:latin typeface="Now"/>
                <a:ea typeface="Now"/>
                <a:cs typeface="Now"/>
                <a:sym typeface="Now"/>
              </a:rPr>
              <a:t>A professional attendance report page. Header: 'Daily Attendance Log' with a date picker at the top right. Main content: A clean list of students. Each row should be a white card with a soft shadow. Left side: Student's small circular profile photo and name. Right side: A bright green pill-shaped badge that says 'Present' and a timestamp (e.g., 09:05 AM). Use a light gray background to separate the cards. Style: Clean Administrative UI, high readability.</a:t>
            </a:r>
          </a:p>
        </p:txBody>
      </p:sp>
      <p:sp>
        <p:nvSpPr>
          <p:cNvPr name="TextBox 9" id="9"/>
          <p:cNvSpPr txBox="true"/>
          <p:nvPr/>
        </p:nvSpPr>
        <p:spPr>
          <a:xfrm rot="0">
            <a:off x="17041474" y="482985"/>
            <a:ext cx="620583" cy="273685"/>
          </a:xfrm>
          <a:prstGeom prst="rect">
            <a:avLst/>
          </a:prstGeom>
        </p:spPr>
        <p:txBody>
          <a:bodyPr anchor="t" rtlCol="false" tIns="0" lIns="0" bIns="0" rIns="0">
            <a:spAutoFit/>
          </a:bodyPr>
          <a:lstStyle/>
          <a:p>
            <a:pPr algn="r">
              <a:lnSpc>
                <a:spcPts val="2239"/>
              </a:lnSpc>
            </a:pPr>
            <a:r>
              <a:rPr lang="en-US" sz="1599" b="true">
                <a:solidFill>
                  <a:srgbClr val="737373"/>
                </a:solidFill>
                <a:latin typeface="Now Bold"/>
                <a:ea typeface="Now Bold"/>
                <a:cs typeface="Now Bold"/>
                <a:sym typeface="Now Bold"/>
              </a:rPr>
              <a:t>10</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0" t="0" r="0" b="0"/>
            </a:stretch>
          </a:blipFill>
        </p:spPr>
      </p:sp>
      <p:sp>
        <p:nvSpPr>
          <p:cNvPr name="Freeform 3" id="3"/>
          <p:cNvSpPr/>
          <p:nvPr/>
        </p:nvSpPr>
        <p:spPr>
          <a:xfrm flipH="false" flipV="false" rot="2700000">
            <a:off x="17403571" y="9455408"/>
            <a:ext cx="250141" cy="250141"/>
          </a:xfrm>
          <a:custGeom>
            <a:avLst/>
            <a:gdLst/>
            <a:ahLst/>
            <a:cxnLst/>
            <a:rect r="r" b="b" t="t" l="l"/>
            <a:pathLst>
              <a:path h="250141" w="250141">
                <a:moveTo>
                  <a:pt x="0" y="0"/>
                </a:moveTo>
                <a:lnTo>
                  <a:pt x="250141" y="0"/>
                </a:lnTo>
                <a:lnTo>
                  <a:pt x="250141" y="250142"/>
                </a:lnTo>
                <a:lnTo>
                  <a:pt x="0" y="25014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2115218" y="1737486"/>
            <a:ext cx="5496864" cy="3947825"/>
          </a:xfrm>
          <a:custGeom>
            <a:avLst/>
            <a:gdLst/>
            <a:ahLst/>
            <a:cxnLst/>
            <a:rect r="r" b="b" t="t" l="l"/>
            <a:pathLst>
              <a:path h="3947825" w="5496864">
                <a:moveTo>
                  <a:pt x="0" y="0"/>
                </a:moveTo>
                <a:lnTo>
                  <a:pt x="5496864" y="0"/>
                </a:lnTo>
                <a:lnTo>
                  <a:pt x="5496864" y="3947825"/>
                </a:lnTo>
                <a:lnTo>
                  <a:pt x="0" y="3947825"/>
                </a:lnTo>
                <a:lnTo>
                  <a:pt x="0" y="0"/>
                </a:lnTo>
                <a:close/>
              </a:path>
            </a:pathLst>
          </a:custGeom>
          <a:blipFill>
            <a:blip r:embed="rId5"/>
            <a:stretch>
              <a:fillRect l="-38273" t="-7721" r="-38524" b="-3389"/>
            </a:stretch>
          </a:blipFill>
        </p:spPr>
      </p:sp>
      <p:sp>
        <p:nvSpPr>
          <p:cNvPr name="Freeform 5" id="5"/>
          <p:cNvSpPr/>
          <p:nvPr/>
        </p:nvSpPr>
        <p:spPr>
          <a:xfrm flipH="false" flipV="false" rot="0">
            <a:off x="5827100" y="6043048"/>
            <a:ext cx="4642885" cy="3714308"/>
          </a:xfrm>
          <a:custGeom>
            <a:avLst/>
            <a:gdLst/>
            <a:ahLst/>
            <a:cxnLst/>
            <a:rect r="r" b="b" t="t" l="l"/>
            <a:pathLst>
              <a:path h="3714308" w="4642885">
                <a:moveTo>
                  <a:pt x="0" y="0"/>
                </a:moveTo>
                <a:lnTo>
                  <a:pt x="4642885" y="0"/>
                </a:lnTo>
                <a:lnTo>
                  <a:pt x="4642885" y="3714308"/>
                </a:lnTo>
                <a:lnTo>
                  <a:pt x="0" y="3714308"/>
                </a:lnTo>
                <a:lnTo>
                  <a:pt x="0" y="0"/>
                </a:lnTo>
                <a:close/>
              </a:path>
            </a:pathLst>
          </a:custGeom>
          <a:blipFill>
            <a:blip r:embed="rId6"/>
            <a:stretch>
              <a:fillRect l="-41723" t="0" r="-48049" b="-6325"/>
            </a:stretch>
          </a:blipFill>
        </p:spPr>
      </p:sp>
      <p:sp>
        <p:nvSpPr>
          <p:cNvPr name="Freeform 6" id="6"/>
          <p:cNvSpPr/>
          <p:nvPr/>
        </p:nvSpPr>
        <p:spPr>
          <a:xfrm flipH="false" flipV="false" rot="0">
            <a:off x="9313923" y="1737486"/>
            <a:ext cx="6660762" cy="3918995"/>
          </a:xfrm>
          <a:custGeom>
            <a:avLst/>
            <a:gdLst/>
            <a:ahLst/>
            <a:cxnLst/>
            <a:rect r="r" b="b" t="t" l="l"/>
            <a:pathLst>
              <a:path h="3918995" w="6660762">
                <a:moveTo>
                  <a:pt x="0" y="0"/>
                </a:moveTo>
                <a:lnTo>
                  <a:pt x="6660762" y="0"/>
                </a:lnTo>
                <a:lnTo>
                  <a:pt x="6660762" y="3918995"/>
                </a:lnTo>
                <a:lnTo>
                  <a:pt x="0" y="3918995"/>
                </a:lnTo>
                <a:lnTo>
                  <a:pt x="0" y="0"/>
                </a:lnTo>
                <a:close/>
              </a:path>
            </a:pathLst>
          </a:custGeom>
          <a:blipFill>
            <a:blip r:embed="rId7"/>
            <a:stretch>
              <a:fillRect l="-44302" t="-16519" r="-57388" b="-37241"/>
            </a:stretch>
          </a:blipFill>
        </p:spPr>
      </p:sp>
      <p:sp>
        <p:nvSpPr>
          <p:cNvPr name="TextBox 7" id="7"/>
          <p:cNvSpPr txBox="true"/>
          <p:nvPr/>
        </p:nvSpPr>
        <p:spPr>
          <a:xfrm rot="0">
            <a:off x="264449" y="77220"/>
            <a:ext cx="4599201" cy="1210945"/>
          </a:xfrm>
          <a:prstGeom prst="rect">
            <a:avLst/>
          </a:prstGeom>
        </p:spPr>
        <p:txBody>
          <a:bodyPr anchor="t" rtlCol="false" tIns="0" lIns="0" bIns="0" rIns="0">
            <a:spAutoFit/>
          </a:bodyPr>
          <a:lstStyle/>
          <a:p>
            <a:pPr algn="l">
              <a:lnSpc>
                <a:spcPts val="9799"/>
              </a:lnSpc>
            </a:pPr>
            <a:r>
              <a:rPr lang="en-US" sz="6999" b="true">
                <a:solidFill>
                  <a:srgbClr val="595858"/>
                </a:solidFill>
                <a:latin typeface="Now Bold"/>
                <a:ea typeface="Now Bold"/>
                <a:cs typeface="Now Bold"/>
                <a:sym typeface="Now Bold"/>
              </a:rPr>
              <a:t>Database</a:t>
            </a:r>
          </a:p>
        </p:txBody>
      </p:sp>
      <p:sp>
        <p:nvSpPr>
          <p:cNvPr name="TextBox 8" id="8"/>
          <p:cNvSpPr txBox="true"/>
          <p:nvPr/>
        </p:nvSpPr>
        <p:spPr>
          <a:xfrm rot="0">
            <a:off x="17041474" y="482985"/>
            <a:ext cx="620583" cy="273685"/>
          </a:xfrm>
          <a:prstGeom prst="rect">
            <a:avLst/>
          </a:prstGeom>
        </p:spPr>
        <p:txBody>
          <a:bodyPr anchor="t" rtlCol="false" tIns="0" lIns="0" bIns="0" rIns="0">
            <a:spAutoFit/>
          </a:bodyPr>
          <a:lstStyle/>
          <a:p>
            <a:pPr algn="r">
              <a:lnSpc>
                <a:spcPts val="2239"/>
              </a:lnSpc>
            </a:pPr>
            <a:r>
              <a:rPr lang="en-US" sz="1599" b="true">
                <a:solidFill>
                  <a:srgbClr val="737373"/>
                </a:solidFill>
                <a:latin typeface="Now Bold"/>
                <a:ea typeface="Now Bold"/>
                <a:cs typeface="Now Bold"/>
                <a:sym typeface="Now Bold"/>
              </a:rPr>
              <a:t>11</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0" t="0" r="0" b="0"/>
            </a:stretch>
          </a:blipFill>
        </p:spPr>
      </p:sp>
      <p:sp>
        <p:nvSpPr>
          <p:cNvPr name="Freeform 3" id="3"/>
          <p:cNvSpPr/>
          <p:nvPr/>
        </p:nvSpPr>
        <p:spPr>
          <a:xfrm flipH="false" flipV="false" rot="2700000">
            <a:off x="17403571" y="9455408"/>
            <a:ext cx="250141" cy="250141"/>
          </a:xfrm>
          <a:custGeom>
            <a:avLst/>
            <a:gdLst/>
            <a:ahLst/>
            <a:cxnLst/>
            <a:rect r="r" b="b" t="t" l="l"/>
            <a:pathLst>
              <a:path h="250141" w="250141">
                <a:moveTo>
                  <a:pt x="0" y="0"/>
                </a:moveTo>
                <a:lnTo>
                  <a:pt x="250141" y="0"/>
                </a:lnTo>
                <a:lnTo>
                  <a:pt x="250141" y="250142"/>
                </a:lnTo>
                <a:lnTo>
                  <a:pt x="0" y="25014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8414758" y="5927429"/>
            <a:ext cx="9290761" cy="4052820"/>
          </a:xfrm>
          <a:custGeom>
            <a:avLst/>
            <a:gdLst/>
            <a:ahLst/>
            <a:cxnLst/>
            <a:rect r="r" b="b" t="t" l="l"/>
            <a:pathLst>
              <a:path h="4052820" w="9290761">
                <a:moveTo>
                  <a:pt x="0" y="0"/>
                </a:moveTo>
                <a:lnTo>
                  <a:pt x="9290760" y="0"/>
                </a:lnTo>
                <a:lnTo>
                  <a:pt x="9290760" y="4052820"/>
                </a:lnTo>
                <a:lnTo>
                  <a:pt x="0" y="4052820"/>
                </a:lnTo>
                <a:lnTo>
                  <a:pt x="0" y="0"/>
                </a:lnTo>
                <a:close/>
              </a:path>
            </a:pathLst>
          </a:custGeom>
          <a:blipFill>
            <a:blip r:embed="rId5"/>
            <a:stretch>
              <a:fillRect l="0" t="0" r="0" b="0"/>
            </a:stretch>
          </a:blipFill>
        </p:spPr>
      </p:sp>
      <p:sp>
        <p:nvSpPr>
          <p:cNvPr name="Freeform 5" id="5"/>
          <p:cNvSpPr/>
          <p:nvPr/>
        </p:nvSpPr>
        <p:spPr>
          <a:xfrm flipH="false" flipV="false" rot="0">
            <a:off x="715632" y="1731886"/>
            <a:ext cx="8296037" cy="3751823"/>
          </a:xfrm>
          <a:custGeom>
            <a:avLst/>
            <a:gdLst/>
            <a:ahLst/>
            <a:cxnLst/>
            <a:rect r="r" b="b" t="t" l="l"/>
            <a:pathLst>
              <a:path h="3751823" w="8296037">
                <a:moveTo>
                  <a:pt x="0" y="0"/>
                </a:moveTo>
                <a:lnTo>
                  <a:pt x="8296037" y="0"/>
                </a:lnTo>
                <a:lnTo>
                  <a:pt x="8296037" y="3751822"/>
                </a:lnTo>
                <a:lnTo>
                  <a:pt x="0" y="3751822"/>
                </a:lnTo>
                <a:lnTo>
                  <a:pt x="0" y="0"/>
                </a:lnTo>
                <a:close/>
              </a:path>
            </a:pathLst>
          </a:custGeom>
          <a:blipFill>
            <a:blip r:embed="rId6"/>
            <a:stretch>
              <a:fillRect l="0" t="0" r="0" b="0"/>
            </a:stretch>
          </a:blipFill>
        </p:spPr>
      </p:sp>
      <p:sp>
        <p:nvSpPr>
          <p:cNvPr name="TextBox 6" id="6"/>
          <p:cNvSpPr txBox="true"/>
          <p:nvPr/>
        </p:nvSpPr>
        <p:spPr>
          <a:xfrm rot="0">
            <a:off x="264449" y="77220"/>
            <a:ext cx="4599201" cy="1210945"/>
          </a:xfrm>
          <a:prstGeom prst="rect">
            <a:avLst/>
          </a:prstGeom>
        </p:spPr>
        <p:txBody>
          <a:bodyPr anchor="t" rtlCol="false" tIns="0" lIns="0" bIns="0" rIns="0">
            <a:spAutoFit/>
          </a:bodyPr>
          <a:lstStyle/>
          <a:p>
            <a:pPr algn="l">
              <a:lnSpc>
                <a:spcPts val="9799"/>
              </a:lnSpc>
            </a:pPr>
            <a:r>
              <a:rPr lang="en-US" sz="6999" b="true">
                <a:solidFill>
                  <a:srgbClr val="595858"/>
                </a:solidFill>
                <a:latin typeface="Now Bold"/>
                <a:ea typeface="Now Bold"/>
                <a:cs typeface="Now Bold"/>
                <a:sym typeface="Now Bold"/>
              </a:rPr>
              <a:t>API Calls</a:t>
            </a:r>
          </a:p>
        </p:txBody>
      </p:sp>
      <p:sp>
        <p:nvSpPr>
          <p:cNvPr name="TextBox 7" id="7"/>
          <p:cNvSpPr txBox="true"/>
          <p:nvPr/>
        </p:nvSpPr>
        <p:spPr>
          <a:xfrm rot="0">
            <a:off x="17041474" y="482985"/>
            <a:ext cx="620583" cy="273685"/>
          </a:xfrm>
          <a:prstGeom prst="rect">
            <a:avLst/>
          </a:prstGeom>
        </p:spPr>
        <p:txBody>
          <a:bodyPr anchor="t" rtlCol="false" tIns="0" lIns="0" bIns="0" rIns="0">
            <a:spAutoFit/>
          </a:bodyPr>
          <a:lstStyle/>
          <a:p>
            <a:pPr algn="r">
              <a:lnSpc>
                <a:spcPts val="2239"/>
              </a:lnSpc>
            </a:pPr>
            <a:r>
              <a:rPr lang="en-US" sz="1599" b="true">
                <a:solidFill>
                  <a:srgbClr val="737373"/>
                </a:solidFill>
                <a:latin typeface="Now Bold"/>
                <a:ea typeface="Now Bold"/>
                <a:cs typeface="Now Bold"/>
                <a:sym typeface="Now Bold"/>
              </a:rPr>
              <a:t>12</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0" t="0" r="0" b="0"/>
            </a:stretch>
          </a:blipFill>
        </p:spPr>
      </p:sp>
      <p:grpSp>
        <p:nvGrpSpPr>
          <p:cNvPr name="Group 3" id="3"/>
          <p:cNvGrpSpPr/>
          <p:nvPr/>
        </p:nvGrpSpPr>
        <p:grpSpPr>
          <a:xfrm rot="0">
            <a:off x="4933613" y="0"/>
            <a:ext cx="8389527" cy="8389527"/>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solidFill>
                <a:srgbClr val="737373"/>
              </a:solidFill>
              <a:prstDash val="solid"/>
              <a:miter/>
            </a:ln>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239"/>
                </a:lnSpc>
              </a:pPr>
            </a:p>
          </p:txBody>
        </p:sp>
      </p:grpSp>
      <p:sp>
        <p:nvSpPr>
          <p:cNvPr name="TextBox 6" id="6"/>
          <p:cNvSpPr txBox="true"/>
          <p:nvPr/>
        </p:nvSpPr>
        <p:spPr>
          <a:xfrm rot="0">
            <a:off x="5983381" y="3515313"/>
            <a:ext cx="6289992" cy="1216025"/>
          </a:xfrm>
          <a:prstGeom prst="rect">
            <a:avLst/>
          </a:prstGeom>
        </p:spPr>
        <p:txBody>
          <a:bodyPr anchor="t" rtlCol="false" tIns="0" lIns="0" bIns="0" rIns="0">
            <a:spAutoFit/>
          </a:bodyPr>
          <a:lstStyle/>
          <a:p>
            <a:pPr algn="ctr">
              <a:lnSpc>
                <a:spcPts val="9799"/>
              </a:lnSpc>
            </a:pPr>
            <a:r>
              <a:rPr lang="en-US" sz="6999" b="true">
                <a:solidFill>
                  <a:srgbClr val="595858"/>
                </a:solidFill>
                <a:latin typeface="Now Bold"/>
                <a:ea typeface="Now Bold"/>
                <a:cs typeface="Now Bold"/>
                <a:sym typeface="Now Bold"/>
              </a:rPr>
              <a:t>Thank You</a:t>
            </a:r>
          </a:p>
        </p:txBody>
      </p:sp>
      <p:sp>
        <p:nvSpPr>
          <p:cNvPr name="TextBox 7" id="7"/>
          <p:cNvSpPr txBox="true"/>
          <p:nvPr/>
        </p:nvSpPr>
        <p:spPr>
          <a:xfrm rot="0">
            <a:off x="17041474" y="482985"/>
            <a:ext cx="620583" cy="273685"/>
          </a:xfrm>
          <a:prstGeom prst="rect">
            <a:avLst/>
          </a:prstGeom>
        </p:spPr>
        <p:txBody>
          <a:bodyPr anchor="t" rtlCol="false" tIns="0" lIns="0" bIns="0" rIns="0">
            <a:spAutoFit/>
          </a:bodyPr>
          <a:lstStyle/>
          <a:p>
            <a:pPr algn="r">
              <a:lnSpc>
                <a:spcPts val="2239"/>
              </a:lnSpc>
            </a:pPr>
            <a:r>
              <a:rPr lang="en-US" sz="1599" b="true">
                <a:solidFill>
                  <a:srgbClr val="737373"/>
                </a:solidFill>
                <a:latin typeface="Now Bold"/>
                <a:ea typeface="Now Bold"/>
                <a:cs typeface="Now Bold"/>
                <a:sym typeface="Now Bold"/>
              </a:rPr>
              <a:t>13</a:t>
            </a:r>
          </a:p>
        </p:txBody>
      </p:sp>
      <p:sp>
        <p:nvSpPr>
          <p:cNvPr name="TextBox 8" id="8"/>
          <p:cNvSpPr txBox="true"/>
          <p:nvPr/>
        </p:nvSpPr>
        <p:spPr>
          <a:xfrm rot="0">
            <a:off x="14358561" y="9582418"/>
            <a:ext cx="3303495" cy="273685"/>
          </a:xfrm>
          <a:prstGeom prst="rect">
            <a:avLst/>
          </a:prstGeom>
        </p:spPr>
        <p:txBody>
          <a:bodyPr anchor="t" rtlCol="false" tIns="0" lIns="0" bIns="0" rIns="0">
            <a:spAutoFit/>
          </a:bodyPr>
          <a:lstStyle/>
          <a:p>
            <a:pPr algn="l">
              <a:lnSpc>
                <a:spcPts val="2239"/>
              </a:lnSpc>
            </a:pPr>
            <a:r>
              <a:rPr lang="en-US" sz="1599">
                <a:solidFill>
                  <a:srgbClr val="595858"/>
                </a:solidFill>
                <a:latin typeface="Now"/>
                <a:ea typeface="Now"/>
                <a:cs typeface="Now"/>
                <a:sym typeface="Now"/>
              </a:rPr>
              <a:t>gangaanil2007xyz@gmail.com</a:t>
            </a:r>
          </a:p>
        </p:txBody>
      </p:sp>
      <p:sp>
        <p:nvSpPr>
          <p:cNvPr name="AutoShape 9" id="9"/>
          <p:cNvSpPr/>
          <p:nvPr/>
        </p:nvSpPr>
        <p:spPr>
          <a:xfrm>
            <a:off x="-169125" y="8389527"/>
            <a:ext cx="18594933" cy="0"/>
          </a:xfrm>
          <a:prstGeom prst="line">
            <a:avLst/>
          </a:prstGeom>
          <a:ln cap="flat" w="9525">
            <a:solidFill>
              <a:srgbClr val="000000"/>
            </a:solidFill>
            <a:prstDash val="solid"/>
            <a:headEnd type="none" len="sm" w="sm"/>
            <a:tailEnd type="none" len="sm" w="sm"/>
          </a:ln>
        </p:spPr>
      </p:sp>
      <p:sp>
        <p:nvSpPr>
          <p:cNvPr name="AutoShape 10" id="10"/>
          <p:cNvSpPr/>
          <p:nvPr/>
        </p:nvSpPr>
        <p:spPr>
          <a:xfrm>
            <a:off x="12817418" y="8389527"/>
            <a:ext cx="0" cy="2353211"/>
          </a:xfrm>
          <a:prstGeom prst="line">
            <a:avLst/>
          </a:prstGeom>
          <a:ln cap="flat" w="9525">
            <a:solidFill>
              <a:srgbClr val="000000"/>
            </a:solidFill>
            <a:prstDash val="solid"/>
            <a:headEnd type="none" len="sm" w="sm"/>
            <a:tailEnd type="none" len="sm" w="sm"/>
          </a:ln>
        </p:spPr>
      </p:sp>
      <p:sp>
        <p:nvSpPr>
          <p:cNvPr name="Freeform 11" id="11"/>
          <p:cNvSpPr/>
          <p:nvPr/>
        </p:nvSpPr>
        <p:spPr>
          <a:xfrm flipH="true" flipV="true" rot="2700000">
            <a:off x="1289255" y="4246569"/>
            <a:ext cx="250141" cy="250141"/>
          </a:xfrm>
          <a:custGeom>
            <a:avLst/>
            <a:gdLst/>
            <a:ahLst/>
            <a:cxnLst/>
            <a:rect r="r" b="b" t="t" l="l"/>
            <a:pathLst>
              <a:path h="250141" w="250141">
                <a:moveTo>
                  <a:pt x="250142" y="250142"/>
                </a:moveTo>
                <a:lnTo>
                  <a:pt x="0" y="250142"/>
                </a:lnTo>
                <a:lnTo>
                  <a:pt x="0" y="0"/>
                </a:lnTo>
                <a:lnTo>
                  <a:pt x="250142" y="0"/>
                </a:lnTo>
                <a:lnTo>
                  <a:pt x="250142" y="250142"/>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DAHLy8-Fctk</dc:identifier>
  <dcterms:modified xsi:type="dcterms:W3CDTF">2011-08-01T06:04:30Z</dcterms:modified>
  <cp:revision>1</cp:revision>
  <dc:title>NEXORA</dc:title>
</cp:coreProperties>
</file>